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>
      <p:cViewPr varScale="1">
        <p:scale>
          <a:sx n="104" d="100"/>
          <a:sy n="104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E053E-F1F1-C044-AC8C-8E0129D53106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15186-3536-3B4C-B22F-FAD82E119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218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115186-3536-3B4C-B22F-FAD82E11946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6955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リーフォーム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" name="フリーフォーム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" name="フリーフォーム 7"/>
          <p:cNvSpPr/>
          <p:nvPr/>
        </p:nvSpPr>
        <p:spPr>
          <a:xfrm>
            <a:off x="0" y="30348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フリーフォーム 8"/>
          <p:cNvSpPr/>
          <p:nvPr/>
        </p:nvSpPr>
        <p:spPr>
          <a:xfrm>
            <a:off x="609480" y="1098115"/>
            <a:ext cx="57600" cy="848160"/>
          </a:xfrm>
          <a:custGeom>
            <a:avLst/>
            <a:gdLst/>
            <a:ahLst/>
            <a:cxnLst/>
            <a:rect l="0" t="0" r="r" b="b"/>
            <a:pathLst>
              <a:path w="160" h="2356">
                <a:moveTo>
                  <a:pt x="0" y="0"/>
                </a:moveTo>
                <a:lnTo>
                  <a:pt x="160" y="0"/>
                </a:lnTo>
                <a:lnTo>
                  <a:pt x="160" y="2356"/>
                </a:lnTo>
                <a:lnTo>
                  <a:pt x="0" y="2356"/>
                </a:lnTo>
                <a:lnTo>
                  <a:pt x="0" y="0"/>
                </a:lnTo>
                <a:close/>
              </a:path>
            </a:pathLst>
          </a:custGeom>
          <a:solidFill>
            <a:srgbClr val="0066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フリーフォーム 9"/>
          <p:cNvSpPr/>
          <p:nvPr/>
        </p:nvSpPr>
        <p:spPr>
          <a:xfrm>
            <a:off x="676080" y="2421835"/>
            <a:ext cx="124200" cy="124200"/>
          </a:xfrm>
          <a:custGeom>
            <a:avLst/>
            <a:gdLst/>
            <a:ahLst/>
            <a:cxnLst/>
            <a:rect l="0" t="0" r="r" b="b"/>
            <a:pathLst>
              <a:path w="345" h="345">
                <a:moveTo>
                  <a:pt x="345" y="173"/>
                </a:moveTo>
                <a:cubicBezTo>
                  <a:pt x="345" y="185"/>
                  <a:pt x="344" y="196"/>
                  <a:pt x="342" y="207"/>
                </a:cubicBezTo>
                <a:cubicBezTo>
                  <a:pt x="339" y="218"/>
                  <a:pt x="336" y="229"/>
                  <a:pt x="332" y="239"/>
                </a:cubicBezTo>
                <a:cubicBezTo>
                  <a:pt x="328" y="250"/>
                  <a:pt x="322" y="260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59" y="323"/>
                  <a:pt x="249" y="328"/>
                  <a:pt x="239" y="332"/>
                </a:cubicBezTo>
                <a:cubicBezTo>
                  <a:pt x="228" y="337"/>
                  <a:pt x="218" y="340"/>
                  <a:pt x="207" y="342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2" y="345"/>
                  <a:pt x="151" y="344"/>
                  <a:pt x="139" y="342"/>
                </a:cubicBezTo>
                <a:cubicBezTo>
                  <a:pt x="128" y="340"/>
                  <a:pt x="118" y="337"/>
                  <a:pt x="107" y="332"/>
                </a:cubicBezTo>
                <a:cubicBezTo>
                  <a:pt x="97" y="328"/>
                  <a:pt x="87" y="323"/>
                  <a:pt x="77" y="316"/>
                </a:cubicBezTo>
                <a:cubicBezTo>
                  <a:pt x="68" y="310"/>
                  <a:pt x="59" y="303"/>
                  <a:pt x="51" y="295"/>
                </a:cubicBezTo>
                <a:cubicBezTo>
                  <a:pt x="43" y="287"/>
                  <a:pt x="36" y="278"/>
                  <a:pt x="30" y="269"/>
                </a:cubicBezTo>
                <a:cubicBezTo>
                  <a:pt x="24" y="260"/>
                  <a:pt x="18" y="250"/>
                  <a:pt x="14" y="239"/>
                </a:cubicBezTo>
                <a:cubicBezTo>
                  <a:pt x="10" y="229"/>
                  <a:pt x="6" y="218"/>
                  <a:pt x="3" y="207"/>
                </a:cubicBezTo>
                <a:cubicBezTo>
                  <a:pt x="1" y="196"/>
                  <a:pt x="0" y="185"/>
                  <a:pt x="0" y="173"/>
                </a:cubicBezTo>
                <a:cubicBezTo>
                  <a:pt x="0" y="162"/>
                  <a:pt x="1" y="151"/>
                  <a:pt x="3" y="140"/>
                </a:cubicBezTo>
                <a:cubicBezTo>
                  <a:pt x="6" y="129"/>
                  <a:pt x="10" y="118"/>
                  <a:pt x="14" y="108"/>
                </a:cubicBezTo>
                <a:cubicBezTo>
                  <a:pt x="18" y="96"/>
                  <a:pt x="24" y="86"/>
                  <a:pt x="30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4"/>
                </a:cubicBezTo>
                <a:cubicBezTo>
                  <a:pt x="118" y="9"/>
                  <a:pt x="128" y="6"/>
                  <a:pt x="139" y="4"/>
                </a:cubicBezTo>
                <a:cubicBezTo>
                  <a:pt x="151" y="2"/>
                  <a:pt x="162" y="0"/>
                  <a:pt x="173" y="0"/>
                </a:cubicBezTo>
                <a:cubicBezTo>
                  <a:pt x="184" y="0"/>
                  <a:pt x="195" y="2"/>
                  <a:pt x="207" y="4"/>
                </a:cubicBezTo>
                <a:cubicBezTo>
                  <a:pt x="218" y="6"/>
                  <a:pt x="228" y="9"/>
                  <a:pt x="239" y="14"/>
                </a:cubicBezTo>
                <a:cubicBezTo>
                  <a:pt x="249" y="18"/>
                  <a:pt x="259" y="23"/>
                  <a:pt x="269" y="29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8"/>
                  <a:pt x="316" y="77"/>
                </a:cubicBezTo>
                <a:cubicBezTo>
                  <a:pt x="322" y="86"/>
                  <a:pt x="328" y="96"/>
                  <a:pt x="332" y="108"/>
                </a:cubicBezTo>
                <a:cubicBezTo>
                  <a:pt x="336" y="118"/>
                  <a:pt x="339" y="129"/>
                  <a:pt x="342" y="140"/>
                </a:cubicBezTo>
                <a:cubicBezTo>
                  <a:pt x="344" y="151"/>
                  <a:pt x="345" y="162"/>
                  <a:pt x="345" y="173"/>
                </a:cubicBez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819000" y="1094155"/>
            <a:ext cx="8535240" cy="609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800" b="1" u="none" strike="noStrike">
                <a:solidFill>
                  <a:srgbClr val="202228"/>
                </a:solidFill>
                <a:effectLst/>
                <a:uFillTx/>
                <a:latin typeface="HiraKakuProN-W6"/>
                <a:ea typeface="HiraKakuProN-W6"/>
              </a:rPr>
              <a:t>モンテカルロシミュレーション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" name="フリーフォーム 11"/>
          <p:cNvSpPr/>
          <p:nvPr/>
        </p:nvSpPr>
        <p:spPr>
          <a:xfrm>
            <a:off x="676080" y="3107635"/>
            <a:ext cx="124200" cy="124200"/>
          </a:xfrm>
          <a:custGeom>
            <a:avLst/>
            <a:gdLst/>
            <a:ahLst/>
            <a:cxnLst/>
            <a:rect l="0" t="0" r="r" b="b"/>
            <a:pathLst>
              <a:path w="345" h="345">
                <a:moveTo>
                  <a:pt x="345" y="172"/>
                </a:moveTo>
                <a:cubicBezTo>
                  <a:pt x="345" y="184"/>
                  <a:pt x="344" y="195"/>
                  <a:pt x="342" y="206"/>
                </a:cubicBezTo>
                <a:cubicBezTo>
                  <a:pt x="339" y="217"/>
                  <a:pt x="336" y="228"/>
                  <a:pt x="332" y="238"/>
                </a:cubicBezTo>
                <a:cubicBezTo>
                  <a:pt x="328" y="249"/>
                  <a:pt x="322" y="260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59" y="323"/>
                  <a:pt x="249" y="328"/>
                  <a:pt x="239" y="332"/>
                </a:cubicBezTo>
                <a:cubicBezTo>
                  <a:pt x="228" y="337"/>
                  <a:pt x="218" y="340"/>
                  <a:pt x="207" y="342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2" y="345"/>
                  <a:pt x="151" y="344"/>
                  <a:pt x="139" y="342"/>
                </a:cubicBezTo>
                <a:cubicBezTo>
                  <a:pt x="128" y="340"/>
                  <a:pt x="118" y="337"/>
                  <a:pt x="107" y="332"/>
                </a:cubicBezTo>
                <a:cubicBezTo>
                  <a:pt x="97" y="328"/>
                  <a:pt x="87" y="323"/>
                  <a:pt x="77" y="316"/>
                </a:cubicBezTo>
                <a:cubicBezTo>
                  <a:pt x="68" y="310"/>
                  <a:pt x="59" y="303"/>
                  <a:pt x="51" y="295"/>
                </a:cubicBezTo>
                <a:cubicBezTo>
                  <a:pt x="43" y="287"/>
                  <a:pt x="36" y="278"/>
                  <a:pt x="30" y="269"/>
                </a:cubicBezTo>
                <a:cubicBezTo>
                  <a:pt x="24" y="260"/>
                  <a:pt x="18" y="249"/>
                  <a:pt x="14" y="238"/>
                </a:cubicBezTo>
                <a:cubicBezTo>
                  <a:pt x="10" y="228"/>
                  <a:pt x="6" y="217"/>
                  <a:pt x="3" y="206"/>
                </a:cubicBezTo>
                <a:cubicBezTo>
                  <a:pt x="1" y="195"/>
                  <a:pt x="0" y="184"/>
                  <a:pt x="0" y="172"/>
                </a:cubicBezTo>
                <a:cubicBezTo>
                  <a:pt x="0" y="161"/>
                  <a:pt x="1" y="150"/>
                  <a:pt x="3" y="139"/>
                </a:cubicBezTo>
                <a:cubicBezTo>
                  <a:pt x="6" y="128"/>
                  <a:pt x="10" y="117"/>
                  <a:pt x="14" y="107"/>
                </a:cubicBezTo>
                <a:cubicBezTo>
                  <a:pt x="18" y="96"/>
                  <a:pt x="24" y="86"/>
                  <a:pt x="30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4"/>
                </a:cubicBezTo>
                <a:cubicBezTo>
                  <a:pt x="118" y="9"/>
                  <a:pt x="128" y="6"/>
                  <a:pt x="139" y="4"/>
                </a:cubicBezTo>
                <a:cubicBezTo>
                  <a:pt x="151" y="2"/>
                  <a:pt x="162" y="0"/>
                  <a:pt x="173" y="0"/>
                </a:cubicBezTo>
                <a:cubicBezTo>
                  <a:pt x="184" y="0"/>
                  <a:pt x="195" y="2"/>
                  <a:pt x="207" y="4"/>
                </a:cubicBezTo>
                <a:cubicBezTo>
                  <a:pt x="218" y="6"/>
                  <a:pt x="228" y="9"/>
                  <a:pt x="239" y="14"/>
                </a:cubicBezTo>
                <a:cubicBezTo>
                  <a:pt x="249" y="18"/>
                  <a:pt x="259" y="23"/>
                  <a:pt x="269" y="29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8"/>
                  <a:pt x="316" y="77"/>
                </a:cubicBezTo>
                <a:cubicBezTo>
                  <a:pt x="322" y="86"/>
                  <a:pt x="328" y="96"/>
                  <a:pt x="332" y="107"/>
                </a:cubicBezTo>
                <a:cubicBezTo>
                  <a:pt x="336" y="117"/>
                  <a:pt x="339" y="128"/>
                  <a:pt x="342" y="139"/>
                </a:cubicBezTo>
                <a:cubicBezTo>
                  <a:pt x="344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990720" y="2205475"/>
            <a:ext cx="842544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000" b="1" u="none" strike="noStrike">
                <a:solidFill>
                  <a:srgbClr val="0066CC"/>
                </a:solidFill>
                <a:effectLst/>
                <a:uFillTx/>
                <a:latin typeface="HiraKakuProN-W6"/>
                <a:ea typeface="HiraKakuProN-W6"/>
              </a:rPr>
              <a:t>モデル</a:t>
            </a:r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: 2</a:t>
            </a:r>
            <a:r>
              <a:rPr lang="ja-JP" sz="300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次元・レナードジョーンズポテンシャル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フリーフォーム 13"/>
          <p:cNvSpPr/>
          <p:nvPr/>
        </p:nvSpPr>
        <p:spPr>
          <a:xfrm>
            <a:off x="676080" y="3793435"/>
            <a:ext cx="124200" cy="124200"/>
          </a:xfrm>
          <a:custGeom>
            <a:avLst/>
            <a:gdLst/>
            <a:ahLst/>
            <a:cxnLst/>
            <a:rect l="0" t="0" r="r" b="b"/>
            <a:pathLst>
              <a:path w="345" h="345">
                <a:moveTo>
                  <a:pt x="345" y="173"/>
                </a:moveTo>
                <a:cubicBezTo>
                  <a:pt x="345" y="185"/>
                  <a:pt x="344" y="196"/>
                  <a:pt x="342" y="207"/>
                </a:cubicBezTo>
                <a:cubicBezTo>
                  <a:pt x="339" y="218"/>
                  <a:pt x="336" y="229"/>
                  <a:pt x="332" y="239"/>
                </a:cubicBezTo>
                <a:cubicBezTo>
                  <a:pt x="328" y="250"/>
                  <a:pt x="322" y="260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59" y="323"/>
                  <a:pt x="249" y="328"/>
                  <a:pt x="239" y="332"/>
                </a:cubicBezTo>
                <a:cubicBezTo>
                  <a:pt x="228" y="337"/>
                  <a:pt x="218" y="340"/>
                  <a:pt x="207" y="342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2" y="345"/>
                  <a:pt x="151" y="344"/>
                  <a:pt x="139" y="342"/>
                </a:cubicBezTo>
                <a:cubicBezTo>
                  <a:pt x="128" y="340"/>
                  <a:pt x="118" y="337"/>
                  <a:pt x="107" y="332"/>
                </a:cubicBezTo>
                <a:cubicBezTo>
                  <a:pt x="97" y="328"/>
                  <a:pt x="87" y="323"/>
                  <a:pt x="77" y="316"/>
                </a:cubicBezTo>
                <a:cubicBezTo>
                  <a:pt x="68" y="310"/>
                  <a:pt x="59" y="303"/>
                  <a:pt x="51" y="295"/>
                </a:cubicBezTo>
                <a:cubicBezTo>
                  <a:pt x="43" y="287"/>
                  <a:pt x="36" y="278"/>
                  <a:pt x="30" y="269"/>
                </a:cubicBezTo>
                <a:cubicBezTo>
                  <a:pt x="24" y="260"/>
                  <a:pt x="18" y="250"/>
                  <a:pt x="14" y="239"/>
                </a:cubicBezTo>
                <a:cubicBezTo>
                  <a:pt x="10" y="229"/>
                  <a:pt x="6" y="218"/>
                  <a:pt x="3" y="207"/>
                </a:cubicBezTo>
                <a:cubicBezTo>
                  <a:pt x="1" y="196"/>
                  <a:pt x="0" y="185"/>
                  <a:pt x="0" y="173"/>
                </a:cubicBezTo>
                <a:cubicBezTo>
                  <a:pt x="0" y="162"/>
                  <a:pt x="1" y="151"/>
                  <a:pt x="3" y="140"/>
                </a:cubicBezTo>
                <a:cubicBezTo>
                  <a:pt x="6" y="129"/>
                  <a:pt x="10" y="118"/>
                  <a:pt x="14" y="108"/>
                </a:cubicBezTo>
                <a:cubicBezTo>
                  <a:pt x="18" y="97"/>
                  <a:pt x="24" y="87"/>
                  <a:pt x="30" y="78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4"/>
                </a:cubicBezTo>
                <a:cubicBezTo>
                  <a:pt x="118" y="9"/>
                  <a:pt x="128" y="6"/>
                  <a:pt x="139" y="4"/>
                </a:cubicBezTo>
                <a:cubicBezTo>
                  <a:pt x="151" y="2"/>
                  <a:pt x="162" y="0"/>
                  <a:pt x="173" y="0"/>
                </a:cubicBezTo>
                <a:cubicBezTo>
                  <a:pt x="184" y="0"/>
                  <a:pt x="195" y="2"/>
                  <a:pt x="207" y="4"/>
                </a:cubicBezTo>
                <a:cubicBezTo>
                  <a:pt x="218" y="6"/>
                  <a:pt x="228" y="9"/>
                  <a:pt x="239" y="14"/>
                </a:cubicBezTo>
                <a:cubicBezTo>
                  <a:pt x="249" y="18"/>
                  <a:pt x="259" y="23"/>
                  <a:pt x="269" y="29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8"/>
                  <a:pt x="316" y="78"/>
                </a:cubicBezTo>
                <a:cubicBezTo>
                  <a:pt x="322" y="87"/>
                  <a:pt x="328" y="97"/>
                  <a:pt x="332" y="108"/>
                </a:cubicBezTo>
                <a:cubicBezTo>
                  <a:pt x="336" y="118"/>
                  <a:pt x="339" y="129"/>
                  <a:pt x="342" y="140"/>
                </a:cubicBezTo>
                <a:cubicBezTo>
                  <a:pt x="344" y="151"/>
                  <a:pt x="345" y="162"/>
                  <a:pt x="345" y="173"/>
                </a:cubicBez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990720" y="2891275"/>
            <a:ext cx="478440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000" b="1" u="none" strike="noStrike">
                <a:solidFill>
                  <a:srgbClr val="0066CC"/>
                </a:solidFill>
                <a:effectLst/>
                <a:uFillTx/>
                <a:latin typeface="HiraKakuProN-W6"/>
                <a:ea typeface="HiraKakuProN-W6"/>
              </a:rPr>
              <a:t>結果</a:t>
            </a:r>
            <a:r>
              <a:rPr lang="en-US" sz="3000" b="0" u="none" strike="noStrike" dirty="0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: </a:t>
            </a:r>
            <a:r>
              <a:rPr lang="ja-JP" sz="300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分⼦の動きは妥当そう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990720" y="3577075"/>
            <a:ext cx="516528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000" b="1" u="none" strike="noStrike">
                <a:solidFill>
                  <a:srgbClr val="0066CC"/>
                </a:solidFill>
                <a:effectLst/>
                <a:uFillTx/>
                <a:latin typeface="HiraKakuProN-W6"/>
                <a:ea typeface="HiraKakuProN-W6"/>
              </a:rPr>
              <a:t>次の⽬標</a:t>
            </a:r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: </a:t>
            </a:r>
            <a:r>
              <a:rPr lang="ja-JP" sz="300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実装の正しさを検証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990720" y="4262875"/>
            <a:ext cx="659196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    </a:t>
            </a:r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→ </a:t>
            </a:r>
            <a:r>
              <a:rPr lang="ja-JP" sz="300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アルゴン蒸気圧曲線を計算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666720" y="293040"/>
            <a:ext cx="381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FDFCFF"/>
                </a:solidFill>
                <a:effectLst/>
                <a:uFillTx/>
                <a:latin typeface="HiraKakuProN-W3"/>
                <a:ea typeface="HiraKakuProN-W3"/>
              </a:rPr>
              <a:t>モンテカルロシミュレーション </a:t>
            </a:r>
            <a:r>
              <a:rPr lang="en-US" sz="1350" b="0" u="none" strike="noStrike">
                <a:solidFill>
                  <a:srgbClr val="FDFCFF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Hackathon </a:t>
            </a:r>
            <a:r>
              <a:rPr lang="ja-JP" sz="1350" b="0" u="none" strike="noStrike">
                <a:solidFill>
                  <a:srgbClr val="FDFCFF"/>
                </a:solidFill>
                <a:effectLst/>
                <a:uFillTx/>
                <a:latin typeface="HiraKakuProN-W3"/>
                <a:ea typeface="HiraKakuProN-W3"/>
              </a:rPr>
              <a:t>まとめ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666720" y="283320"/>
            <a:ext cx="381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モンテカルロシミュレーション </a:t>
            </a:r>
            <a:r>
              <a:rPr lang="en-US" sz="1350" b="0" u="none" strike="noStrike">
                <a:solidFill>
                  <a:srgbClr val="202228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Hackathon </a:t>
            </a:r>
            <a:r>
              <a:rPr lang="ja-JP" sz="135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まとめ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666720" y="6341400"/>
            <a:ext cx="1224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DFCFF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CompPhysHack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666720" y="6331680"/>
            <a:ext cx="1224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202228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CompPhysHack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4F1B27-5EB6-264C-2CE6-4096F4037091}"/>
              </a:ext>
            </a:extLst>
          </p:cNvPr>
          <p:cNvSpPr txBox="1"/>
          <p:nvPr/>
        </p:nvSpPr>
        <p:spPr>
          <a:xfrm>
            <a:off x="11774520" y="624204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フリーフォーム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フリーフォーム 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" name="フリーフォーム 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" name="フリーフォーム 55"/>
          <p:cNvSpPr/>
          <p:nvPr/>
        </p:nvSpPr>
        <p:spPr>
          <a:xfrm>
            <a:off x="609480" y="885600"/>
            <a:ext cx="57600" cy="857520"/>
          </a:xfrm>
          <a:custGeom>
            <a:avLst/>
            <a:gdLst/>
            <a:ahLst/>
            <a:cxnLst/>
            <a:rect l="0" t="0" r="r" b="b"/>
            <a:pathLst>
              <a:path w="160" h="2382">
                <a:moveTo>
                  <a:pt x="0" y="0"/>
                </a:moveTo>
                <a:lnTo>
                  <a:pt x="160" y="0"/>
                </a:lnTo>
                <a:lnTo>
                  <a:pt x="160" y="2382"/>
                </a:lnTo>
                <a:lnTo>
                  <a:pt x="0" y="2382"/>
                </a:lnTo>
                <a:lnTo>
                  <a:pt x="0" y="0"/>
                </a:lnTo>
                <a:close/>
              </a:path>
            </a:pathLst>
          </a:custGeom>
          <a:solidFill>
            <a:srgbClr val="0066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7" name="フリーフォーム 56"/>
          <p:cNvSpPr/>
          <p:nvPr/>
        </p:nvSpPr>
        <p:spPr>
          <a:xfrm>
            <a:off x="1190520" y="4861296"/>
            <a:ext cx="3067200" cy="28800"/>
          </a:xfrm>
          <a:custGeom>
            <a:avLst/>
            <a:gdLst/>
            <a:ahLst/>
            <a:cxnLst/>
            <a:rect l="0" t="0" r="r" b="b"/>
            <a:pathLst>
              <a:path w="8520" h="80">
                <a:moveTo>
                  <a:pt x="0" y="0"/>
                </a:moveTo>
                <a:lnTo>
                  <a:pt x="8520" y="0"/>
                </a:lnTo>
                <a:lnTo>
                  <a:pt x="8520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8" name="フリーフォーム 57"/>
          <p:cNvSpPr/>
          <p:nvPr/>
        </p:nvSpPr>
        <p:spPr>
          <a:xfrm>
            <a:off x="4257360" y="4861296"/>
            <a:ext cx="2676960" cy="28800"/>
          </a:xfrm>
          <a:custGeom>
            <a:avLst/>
            <a:gdLst/>
            <a:ahLst/>
            <a:cxnLst/>
            <a:rect l="0" t="0" r="r" b="b"/>
            <a:pathLst>
              <a:path w="7436" h="80">
                <a:moveTo>
                  <a:pt x="0" y="0"/>
                </a:moveTo>
                <a:lnTo>
                  <a:pt x="7436" y="0"/>
                </a:lnTo>
                <a:lnTo>
                  <a:pt x="743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フリーフォーム 58"/>
          <p:cNvSpPr/>
          <p:nvPr/>
        </p:nvSpPr>
        <p:spPr>
          <a:xfrm>
            <a:off x="6933960" y="4861296"/>
            <a:ext cx="2181600" cy="28800"/>
          </a:xfrm>
          <a:custGeom>
            <a:avLst/>
            <a:gdLst/>
            <a:ahLst/>
            <a:cxnLst/>
            <a:rect l="0" t="0" r="r" b="b"/>
            <a:pathLst>
              <a:path w="6060" h="80">
                <a:moveTo>
                  <a:pt x="0" y="0"/>
                </a:moveTo>
                <a:lnTo>
                  <a:pt x="6060" y="0"/>
                </a:lnTo>
                <a:lnTo>
                  <a:pt x="6060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フリーフォーム 59"/>
          <p:cNvSpPr/>
          <p:nvPr/>
        </p:nvSpPr>
        <p:spPr>
          <a:xfrm>
            <a:off x="9115200" y="4861296"/>
            <a:ext cx="1886400" cy="28800"/>
          </a:xfrm>
          <a:custGeom>
            <a:avLst/>
            <a:gdLst/>
            <a:ahLst/>
            <a:cxnLst/>
            <a:rect l="0" t="0" r="r" b="b"/>
            <a:pathLst>
              <a:path w="5240" h="80">
                <a:moveTo>
                  <a:pt x="0" y="0"/>
                </a:moveTo>
                <a:lnTo>
                  <a:pt x="5240" y="0"/>
                </a:lnTo>
                <a:lnTo>
                  <a:pt x="5240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1" name="フリーフォーム 60"/>
          <p:cNvSpPr/>
          <p:nvPr/>
        </p:nvSpPr>
        <p:spPr>
          <a:xfrm>
            <a:off x="1190520" y="4861296"/>
            <a:ext cx="3067200" cy="28800"/>
          </a:xfrm>
          <a:custGeom>
            <a:avLst/>
            <a:gdLst/>
            <a:ahLst/>
            <a:cxnLst/>
            <a:rect l="0" t="0" r="r" b="b"/>
            <a:pathLst>
              <a:path w="8520" h="80">
                <a:moveTo>
                  <a:pt x="0" y="0"/>
                </a:moveTo>
                <a:lnTo>
                  <a:pt x="8520" y="0"/>
                </a:lnTo>
                <a:lnTo>
                  <a:pt x="8520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2" name="フリーフォーム 61"/>
          <p:cNvSpPr/>
          <p:nvPr/>
        </p:nvSpPr>
        <p:spPr>
          <a:xfrm>
            <a:off x="4257360" y="4861296"/>
            <a:ext cx="2676960" cy="28800"/>
          </a:xfrm>
          <a:custGeom>
            <a:avLst/>
            <a:gdLst/>
            <a:ahLst/>
            <a:cxnLst/>
            <a:rect l="0" t="0" r="r" b="b"/>
            <a:pathLst>
              <a:path w="7436" h="80">
                <a:moveTo>
                  <a:pt x="0" y="0"/>
                </a:moveTo>
                <a:lnTo>
                  <a:pt x="7436" y="0"/>
                </a:lnTo>
                <a:lnTo>
                  <a:pt x="743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3" name="フリーフォーム 62"/>
          <p:cNvSpPr/>
          <p:nvPr/>
        </p:nvSpPr>
        <p:spPr>
          <a:xfrm>
            <a:off x="6933960" y="4861296"/>
            <a:ext cx="2181600" cy="28800"/>
          </a:xfrm>
          <a:custGeom>
            <a:avLst/>
            <a:gdLst/>
            <a:ahLst/>
            <a:cxnLst/>
            <a:rect l="0" t="0" r="r" b="b"/>
            <a:pathLst>
              <a:path w="6060" h="80">
                <a:moveTo>
                  <a:pt x="0" y="0"/>
                </a:moveTo>
                <a:lnTo>
                  <a:pt x="6060" y="0"/>
                </a:lnTo>
                <a:lnTo>
                  <a:pt x="6060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フリーフォーム 63"/>
          <p:cNvSpPr/>
          <p:nvPr/>
        </p:nvSpPr>
        <p:spPr>
          <a:xfrm>
            <a:off x="9115200" y="4861296"/>
            <a:ext cx="1886400" cy="28800"/>
          </a:xfrm>
          <a:custGeom>
            <a:avLst/>
            <a:gdLst/>
            <a:ahLst/>
            <a:cxnLst/>
            <a:rect l="0" t="0" r="r" b="b"/>
            <a:pathLst>
              <a:path w="5240" h="80">
                <a:moveTo>
                  <a:pt x="0" y="0"/>
                </a:moveTo>
                <a:lnTo>
                  <a:pt x="5240" y="0"/>
                </a:lnTo>
                <a:lnTo>
                  <a:pt x="5240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フリーフォーム 64"/>
          <p:cNvSpPr/>
          <p:nvPr/>
        </p:nvSpPr>
        <p:spPr>
          <a:xfrm>
            <a:off x="676080" y="2219040"/>
            <a:ext cx="124200" cy="124200"/>
          </a:xfrm>
          <a:custGeom>
            <a:avLst/>
            <a:gdLst/>
            <a:ahLst/>
            <a:cxnLst/>
            <a:rect l="0" t="0" r="r" b="b"/>
            <a:pathLst>
              <a:path w="345" h="345">
                <a:moveTo>
                  <a:pt x="345" y="172"/>
                </a:moveTo>
                <a:cubicBezTo>
                  <a:pt x="345" y="185"/>
                  <a:pt x="344" y="196"/>
                  <a:pt x="342" y="207"/>
                </a:cubicBezTo>
                <a:cubicBezTo>
                  <a:pt x="339" y="218"/>
                  <a:pt x="336" y="229"/>
                  <a:pt x="332" y="239"/>
                </a:cubicBezTo>
                <a:cubicBezTo>
                  <a:pt x="328" y="250"/>
                  <a:pt x="322" y="259"/>
                  <a:pt x="316" y="269"/>
                </a:cubicBezTo>
                <a:cubicBezTo>
                  <a:pt x="310" y="278"/>
                  <a:pt x="303" y="287"/>
                  <a:pt x="295" y="295"/>
                </a:cubicBezTo>
                <a:cubicBezTo>
                  <a:pt x="287" y="303"/>
                  <a:pt x="278" y="310"/>
                  <a:pt x="269" y="316"/>
                </a:cubicBezTo>
                <a:cubicBezTo>
                  <a:pt x="259" y="323"/>
                  <a:pt x="249" y="328"/>
                  <a:pt x="239" y="332"/>
                </a:cubicBezTo>
                <a:cubicBezTo>
                  <a:pt x="228" y="336"/>
                  <a:pt x="218" y="340"/>
                  <a:pt x="207" y="342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2" y="345"/>
                  <a:pt x="151" y="344"/>
                  <a:pt x="139" y="342"/>
                </a:cubicBezTo>
                <a:cubicBezTo>
                  <a:pt x="128" y="340"/>
                  <a:pt x="118" y="336"/>
                  <a:pt x="107" y="332"/>
                </a:cubicBezTo>
                <a:cubicBezTo>
                  <a:pt x="97" y="328"/>
                  <a:pt x="87" y="323"/>
                  <a:pt x="77" y="316"/>
                </a:cubicBezTo>
                <a:cubicBezTo>
                  <a:pt x="68" y="310"/>
                  <a:pt x="59" y="303"/>
                  <a:pt x="51" y="295"/>
                </a:cubicBezTo>
                <a:cubicBezTo>
                  <a:pt x="43" y="287"/>
                  <a:pt x="36" y="278"/>
                  <a:pt x="30" y="269"/>
                </a:cubicBezTo>
                <a:cubicBezTo>
                  <a:pt x="24" y="259"/>
                  <a:pt x="18" y="250"/>
                  <a:pt x="14" y="239"/>
                </a:cubicBezTo>
                <a:cubicBezTo>
                  <a:pt x="10" y="229"/>
                  <a:pt x="6" y="218"/>
                  <a:pt x="3" y="207"/>
                </a:cubicBezTo>
                <a:cubicBezTo>
                  <a:pt x="1" y="196"/>
                  <a:pt x="0" y="185"/>
                  <a:pt x="0" y="172"/>
                </a:cubicBezTo>
                <a:cubicBezTo>
                  <a:pt x="0" y="161"/>
                  <a:pt x="1" y="150"/>
                  <a:pt x="3" y="139"/>
                </a:cubicBezTo>
                <a:cubicBezTo>
                  <a:pt x="6" y="128"/>
                  <a:pt x="10" y="117"/>
                  <a:pt x="14" y="106"/>
                </a:cubicBezTo>
                <a:cubicBezTo>
                  <a:pt x="18" y="96"/>
                  <a:pt x="24" y="86"/>
                  <a:pt x="30" y="77"/>
                </a:cubicBezTo>
                <a:cubicBezTo>
                  <a:pt x="36" y="67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3"/>
                </a:cubicBezTo>
                <a:cubicBezTo>
                  <a:pt x="118" y="9"/>
                  <a:pt x="128" y="6"/>
                  <a:pt x="139" y="4"/>
                </a:cubicBezTo>
                <a:cubicBezTo>
                  <a:pt x="151" y="1"/>
                  <a:pt x="162" y="0"/>
                  <a:pt x="173" y="0"/>
                </a:cubicBezTo>
                <a:cubicBezTo>
                  <a:pt x="184" y="0"/>
                  <a:pt x="195" y="1"/>
                  <a:pt x="207" y="4"/>
                </a:cubicBezTo>
                <a:cubicBezTo>
                  <a:pt x="218" y="6"/>
                  <a:pt x="228" y="9"/>
                  <a:pt x="239" y="13"/>
                </a:cubicBezTo>
                <a:cubicBezTo>
                  <a:pt x="249" y="18"/>
                  <a:pt x="259" y="23"/>
                  <a:pt x="269" y="29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7"/>
                  <a:pt x="316" y="77"/>
                </a:cubicBezTo>
                <a:cubicBezTo>
                  <a:pt x="322" y="86"/>
                  <a:pt x="328" y="96"/>
                  <a:pt x="332" y="106"/>
                </a:cubicBezTo>
                <a:cubicBezTo>
                  <a:pt x="336" y="117"/>
                  <a:pt x="339" y="128"/>
                  <a:pt x="342" y="139"/>
                </a:cubicBezTo>
                <a:cubicBezTo>
                  <a:pt x="344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819000" y="980856"/>
            <a:ext cx="7925400" cy="609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800" b="1" u="none" strike="noStrike">
                <a:solidFill>
                  <a:srgbClr val="202228"/>
                </a:solidFill>
                <a:effectLst/>
                <a:uFillTx/>
                <a:latin typeface="HiraKakuProN-W6"/>
                <a:ea typeface="HiraKakuProN-W6"/>
              </a:rPr>
              <a:t>アルゴンの蒸気圧曲線の計算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" name="フリーフォーム 66"/>
          <p:cNvSpPr/>
          <p:nvPr/>
        </p:nvSpPr>
        <p:spPr>
          <a:xfrm>
            <a:off x="676080" y="2904840"/>
            <a:ext cx="124200" cy="124200"/>
          </a:xfrm>
          <a:custGeom>
            <a:avLst/>
            <a:gdLst/>
            <a:ahLst/>
            <a:cxnLst/>
            <a:rect l="0" t="0" r="r" b="b"/>
            <a:pathLst>
              <a:path w="345" h="345">
                <a:moveTo>
                  <a:pt x="345" y="172"/>
                </a:moveTo>
                <a:cubicBezTo>
                  <a:pt x="345" y="184"/>
                  <a:pt x="344" y="195"/>
                  <a:pt x="342" y="206"/>
                </a:cubicBezTo>
                <a:cubicBezTo>
                  <a:pt x="339" y="217"/>
                  <a:pt x="336" y="228"/>
                  <a:pt x="332" y="238"/>
                </a:cubicBezTo>
                <a:cubicBezTo>
                  <a:pt x="328" y="249"/>
                  <a:pt x="322" y="258"/>
                  <a:pt x="316" y="268"/>
                </a:cubicBezTo>
                <a:cubicBezTo>
                  <a:pt x="310" y="277"/>
                  <a:pt x="303" y="286"/>
                  <a:pt x="295" y="294"/>
                </a:cubicBezTo>
                <a:cubicBezTo>
                  <a:pt x="287" y="302"/>
                  <a:pt x="278" y="309"/>
                  <a:pt x="269" y="315"/>
                </a:cubicBezTo>
                <a:cubicBezTo>
                  <a:pt x="259" y="322"/>
                  <a:pt x="249" y="327"/>
                  <a:pt x="239" y="331"/>
                </a:cubicBezTo>
                <a:cubicBezTo>
                  <a:pt x="228" y="336"/>
                  <a:pt x="218" y="340"/>
                  <a:pt x="207" y="342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2" y="345"/>
                  <a:pt x="151" y="344"/>
                  <a:pt x="139" y="342"/>
                </a:cubicBezTo>
                <a:cubicBezTo>
                  <a:pt x="128" y="340"/>
                  <a:pt x="118" y="336"/>
                  <a:pt x="107" y="331"/>
                </a:cubicBezTo>
                <a:cubicBezTo>
                  <a:pt x="97" y="327"/>
                  <a:pt x="87" y="322"/>
                  <a:pt x="77" y="315"/>
                </a:cubicBezTo>
                <a:cubicBezTo>
                  <a:pt x="68" y="309"/>
                  <a:pt x="59" y="302"/>
                  <a:pt x="51" y="294"/>
                </a:cubicBezTo>
                <a:cubicBezTo>
                  <a:pt x="43" y="286"/>
                  <a:pt x="36" y="277"/>
                  <a:pt x="30" y="268"/>
                </a:cubicBezTo>
                <a:cubicBezTo>
                  <a:pt x="24" y="258"/>
                  <a:pt x="18" y="249"/>
                  <a:pt x="14" y="238"/>
                </a:cubicBezTo>
                <a:cubicBezTo>
                  <a:pt x="10" y="228"/>
                  <a:pt x="6" y="217"/>
                  <a:pt x="3" y="206"/>
                </a:cubicBezTo>
                <a:cubicBezTo>
                  <a:pt x="1" y="195"/>
                  <a:pt x="0" y="184"/>
                  <a:pt x="0" y="172"/>
                </a:cubicBezTo>
                <a:cubicBezTo>
                  <a:pt x="0" y="161"/>
                  <a:pt x="1" y="150"/>
                  <a:pt x="3" y="139"/>
                </a:cubicBezTo>
                <a:cubicBezTo>
                  <a:pt x="6" y="128"/>
                  <a:pt x="10" y="117"/>
                  <a:pt x="14" y="106"/>
                </a:cubicBezTo>
                <a:cubicBezTo>
                  <a:pt x="18" y="96"/>
                  <a:pt x="24" y="86"/>
                  <a:pt x="30" y="77"/>
                </a:cubicBezTo>
                <a:cubicBezTo>
                  <a:pt x="36" y="67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3"/>
                </a:cubicBezTo>
                <a:cubicBezTo>
                  <a:pt x="118" y="9"/>
                  <a:pt x="128" y="6"/>
                  <a:pt x="139" y="4"/>
                </a:cubicBezTo>
                <a:cubicBezTo>
                  <a:pt x="151" y="1"/>
                  <a:pt x="162" y="0"/>
                  <a:pt x="173" y="0"/>
                </a:cubicBezTo>
                <a:cubicBezTo>
                  <a:pt x="184" y="0"/>
                  <a:pt x="195" y="1"/>
                  <a:pt x="207" y="4"/>
                </a:cubicBezTo>
                <a:cubicBezTo>
                  <a:pt x="218" y="6"/>
                  <a:pt x="228" y="9"/>
                  <a:pt x="239" y="13"/>
                </a:cubicBezTo>
                <a:cubicBezTo>
                  <a:pt x="249" y="18"/>
                  <a:pt x="259" y="23"/>
                  <a:pt x="269" y="29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7"/>
                  <a:pt x="316" y="77"/>
                </a:cubicBezTo>
                <a:cubicBezTo>
                  <a:pt x="322" y="86"/>
                  <a:pt x="328" y="96"/>
                  <a:pt x="332" y="106"/>
                </a:cubicBezTo>
                <a:cubicBezTo>
                  <a:pt x="336" y="117"/>
                  <a:pt x="339" y="128"/>
                  <a:pt x="342" y="139"/>
                </a:cubicBezTo>
                <a:cubicBezTo>
                  <a:pt x="344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990720" y="2002680"/>
            <a:ext cx="746316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none" strike="noStrike">
                <a:solidFill>
                  <a:srgbClr val="0066CC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GEMC</a:t>
            </a:r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 = Gibbs Ensemble MC</a:t>
            </a:r>
            <a:r>
              <a:rPr lang="ja-JP" sz="300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（気液共存）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990720" y="2688480"/>
            <a:ext cx="934524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Python </a:t>
            </a:r>
            <a:r>
              <a:rPr lang="ja-JP" sz="300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で実装 </a:t>
            </a:r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→ </a:t>
            </a:r>
            <a:r>
              <a:rPr lang="ja-JP" sz="300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計算が遅い </a:t>
            </a:r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→ Rust </a:t>
            </a:r>
            <a:r>
              <a:rPr lang="ja-JP" sz="300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に移植 </a:t>
            </a:r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→ </a:t>
            </a:r>
            <a:r>
              <a:rPr lang="ja-JP" sz="300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⾼速化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609480" y="3539736"/>
            <a:ext cx="747252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000" b="1" u="none" strike="noStrike">
                <a:solidFill>
                  <a:srgbClr val="0066CC"/>
                </a:solidFill>
                <a:effectLst/>
                <a:uFillTx/>
                <a:latin typeface="HiraKakuProN-W6"/>
                <a:ea typeface="HiraKakuProN-W6"/>
              </a:rPr>
              <a:t>計算時間の⽐較（</a:t>
            </a:r>
            <a:r>
              <a:rPr lang="en-US" sz="3000" b="1" u="none" strike="noStrike">
                <a:solidFill>
                  <a:srgbClr val="0066CC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cutoff</a:t>
            </a:r>
            <a:r>
              <a:rPr lang="ja-JP" sz="3000" b="1" u="none" strike="noStrike">
                <a:solidFill>
                  <a:srgbClr val="0066CC"/>
                </a:solidFill>
                <a:effectLst/>
                <a:uFillTx/>
                <a:latin typeface="HiraKakuProN-W6"/>
                <a:ea typeface="HiraKakuProN-W6"/>
              </a:rPr>
              <a:t>・</a:t>
            </a:r>
            <a:r>
              <a:rPr lang="en-US" sz="3000" b="1" u="none" strike="noStrike">
                <a:solidFill>
                  <a:srgbClr val="0066CC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cell list </a:t>
            </a:r>
            <a:r>
              <a:rPr lang="ja-JP" sz="3000" b="1" u="none" strike="noStrike">
                <a:solidFill>
                  <a:srgbClr val="0066CC"/>
                </a:solidFill>
                <a:effectLst/>
                <a:uFillTx/>
                <a:latin typeface="HiraKakuProN-W6"/>
                <a:ea typeface="HiraKakuProN-W6"/>
              </a:rPr>
              <a:t>なし）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1376280" y="4273056"/>
            <a:ext cx="7628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000" b="1" u="none" strike="noStrike">
                <a:solidFill>
                  <a:srgbClr val="202228"/>
                </a:solidFill>
                <a:effectLst/>
                <a:uFillTx/>
                <a:latin typeface="HiraKakuProN-W6"/>
                <a:ea typeface="HiraKakuProN-W6"/>
              </a:rPr>
              <a:t>条件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4446360" y="4273056"/>
            <a:ext cx="224460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none" strike="noStrike">
                <a:solidFill>
                  <a:srgbClr val="202228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Python (</a:t>
            </a:r>
            <a:r>
              <a:rPr lang="ja-JP" sz="3000" b="1" u="none" strike="noStrike">
                <a:solidFill>
                  <a:srgbClr val="202228"/>
                </a:solidFill>
                <a:effectLst/>
                <a:uFillTx/>
                <a:latin typeface="HiraKakuProN-W6"/>
                <a:ea typeface="HiraKakuProN-W6"/>
              </a:rPr>
              <a:t>秒</a:t>
            </a:r>
            <a:r>
              <a:rPr lang="en-US" sz="3000" b="1" u="none" strike="noStrike">
                <a:solidFill>
                  <a:srgbClr val="202228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7128720" y="4273056"/>
            <a:ext cx="175752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1" u="none" strike="noStrike">
                <a:solidFill>
                  <a:srgbClr val="202228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Rust (</a:t>
            </a:r>
            <a:r>
              <a:rPr lang="ja-JP" sz="3000" b="1" u="none" strike="noStrike">
                <a:solidFill>
                  <a:srgbClr val="202228"/>
                </a:solidFill>
                <a:effectLst/>
                <a:uFillTx/>
                <a:latin typeface="HiraKakuProN-W6"/>
                <a:ea typeface="HiraKakuProN-W6"/>
              </a:rPr>
              <a:t>秒</a:t>
            </a:r>
            <a:r>
              <a:rPr lang="en-US" sz="3000" b="1" u="none" strike="noStrike">
                <a:solidFill>
                  <a:srgbClr val="202228"/>
                </a:solidFill>
                <a:effectLst/>
                <a:uFillTx/>
                <a:latin typeface=".SFNS-Regular_wdth_opsz280000_GRAD_wght2BC0000"/>
                <a:ea typeface=".SFNS-Regular_wdth_opsz280000_GRAD_wght2BC0000"/>
              </a:rPr>
              <a:t>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9586800" y="4273056"/>
            <a:ext cx="11437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000" b="1" u="none" strike="noStrike">
                <a:solidFill>
                  <a:srgbClr val="202228"/>
                </a:solidFill>
                <a:effectLst/>
                <a:uFillTx/>
                <a:latin typeface="HiraKakuProN-W6"/>
                <a:ea typeface="HiraKakuProN-W6"/>
              </a:rPr>
              <a:t>速度⽐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1376280" y="4949496"/>
            <a:ext cx="247896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N=20, T=114K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1376280" y="5482656"/>
            <a:ext cx="207684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40000 steps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5637600" y="5215896"/>
            <a:ext cx="95400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273.3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" name="テキスト ボックス 77"/>
          <p:cNvSpPr txBox="1"/>
          <p:nvPr/>
        </p:nvSpPr>
        <p:spPr>
          <a:xfrm>
            <a:off x="8035560" y="5215896"/>
            <a:ext cx="74232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0.30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" name="テキスト ボックス 107"/>
          <p:cNvSpPr txBox="1"/>
          <p:nvPr/>
        </p:nvSpPr>
        <p:spPr>
          <a:xfrm>
            <a:off x="9305640" y="5215896"/>
            <a:ext cx="135432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00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約 </a:t>
            </a:r>
            <a:r>
              <a:rPr lang="en-US" sz="3000" b="0" u="none" strike="noStrike">
                <a:solidFill>
                  <a:srgbClr val="202228"/>
                </a:solidFill>
                <a:effectLst/>
                <a:uFillTx/>
                <a:latin typeface=".SFNS-Regular_wdth_opsz280000_GRAD_wght"/>
                <a:ea typeface=".SFNS-Regular_wdth_opsz280000_GRAD_wght"/>
              </a:rPr>
              <a:t>910×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" name="テキスト ボックス 109"/>
          <p:cNvSpPr txBox="1"/>
          <p:nvPr/>
        </p:nvSpPr>
        <p:spPr>
          <a:xfrm>
            <a:off x="666720" y="293040"/>
            <a:ext cx="381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FDFCFF"/>
                </a:solidFill>
                <a:effectLst/>
                <a:uFillTx/>
                <a:latin typeface="HiraKakuProN-W3"/>
                <a:ea typeface="HiraKakuProN-W3"/>
              </a:rPr>
              <a:t>モンテカルロシミュレーション </a:t>
            </a:r>
            <a:r>
              <a:rPr lang="en-US" sz="1350" b="0" u="none" strike="noStrike">
                <a:solidFill>
                  <a:srgbClr val="FDFCFF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Hackathon </a:t>
            </a:r>
            <a:r>
              <a:rPr lang="ja-JP" sz="1350" b="0" u="none" strike="noStrike">
                <a:solidFill>
                  <a:srgbClr val="FDFCFF"/>
                </a:solidFill>
                <a:effectLst/>
                <a:uFillTx/>
                <a:latin typeface="HiraKakuProN-W3"/>
                <a:ea typeface="HiraKakuProN-W3"/>
              </a:rPr>
              <a:t>まとめ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" name="テキスト ボックス 110"/>
          <p:cNvSpPr txBox="1"/>
          <p:nvPr/>
        </p:nvSpPr>
        <p:spPr>
          <a:xfrm>
            <a:off x="666720" y="283320"/>
            <a:ext cx="381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モンテカルロシミュレーション </a:t>
            </a:r>
            <a:r>
              <a:rPr lang="en-US" sz="1350" b="0" u="none" strike="noStrike">
                <a:solidFill>
                  <a:srgbClr val="202228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Hackathon </a:t>
            </a:r>
            <a:r>
              <a:rPr lang="ja-JP" sz="135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まとめ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" name="テキスト ボックス 111"/>
          <p:cNvSpPr txBox="1"/>
          <p:nvPr/>
        </p:nvSpPr>
        <p:spPr>
          <a:xfrm>
            <a:off x="666720" y="6341400"/>
            <a:ext cx="1224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DFCFF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CompPhysHack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" name="テキスト ボックス 112"/>
          <p:cNvSpPr txBox="1"/>
          <p:nvPr/>
        </p:nvSpPr>
        <p:spPr>
          <a:xfrm>
            <a:off x="666720" y="6331680"/>
            <a:ext cx="1224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202228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CompPhysHack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219A1EB-89B3-8A09-C314-2638731AFA3F}"/>
              </a:ext>
            </a:extLst>
          </p:cNvPr>
          <p:cNvSpPr txBox="1"/>
          <p:nvPr/>
        </p:nvSpPr>
        <p:spPr>
          <a:xfrm>
            <a:off x="11762163" y="6242040"/>
            <a:ext cx="11702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.SFNS-Regular_wdth_opsz180000_GRAD_wght"/>
              </a:rPr>
              <a:t>2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フリーフォーム 1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" name="フリーフォーム 1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" name="フリーフォーム 1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DFC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" name="フリーフォーム 116"/>
          <p:cNvSpPr/>
          <p:nvPr/>
        </p:nvSpPr>
        <p:spPr>
          <a:xfrm>
            <a:off x="609480" y="456840"/>
            <a:ext cx="57600" cy="857880"/>
          </a:xfrm>
          <a:custGeom>
            <a:avLst/>
            <a:gdLst/>
            <a:ahLst/>
            <a:cxnLst/>
            <a:rect l="0" t="0" r="r" b="b"/>
            <a:pathLst>
              <a:path w="160" h="2383">
                <a:moveTo>
                  <a:pt x="0" y="0"/>
                </a:moveTo>
                <a:lnTo>
                  <a:pt x="160" y="0"/>
                </a:lnTo>
                <a:lnTo>
                  <a:pt x="160" y="2383"/>
                </a:lnTo>
                <a:lnTo>
                  <a:pt x="0" y="2383"/>
                </a:lnTo>
                <a:lnTo>
                  <a:pt x="0" y="0"/>
                </a:lnTo>
                <a:close/>
              </a:path>
            </a:pathLst>
          </a:custGeom>
          <a:solidFill>
            <a:srgbClr val="0066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8" name="フリーフォーム 117"/>
          <p:cNvSpPr/>
          <p:nvPr/>
        </p:nvSpPr>
        <p:spPr>
          <a:xfrm>
            <a:off x="676080" y="1790640"/>
            <a:ext cx="124200" cy="124200"/>
          </a:xfrm>
          <a:custGeom>
            <a:avLst/>
            <a:gdLst/>
            <a:ahLst/>
            <a:cxnLst/>
            <a:rect l="0" t="0" r="r" b="b"/>
            <a:pathLst>
              <a:path w="345" h="345">
                <a:moveTo>
                  <a:pt x="345" y="172"/>
                </a:moveTo>
                <a:cubicBezTo>
                  <a:pt x="345" y="183"/>
                  <a:pt x="344" y="194"/>
                  <a:pt x="342" y="205"/>
                </a:cubicBezTo>
                <a:cubicBezTo>
                  <a:pt x="339" y="216"/>
                  <a:pt x="336" y="227"/>
                  <a:pt x="332" y="237"/>
                </a:cubicBezTo>
                <a:cubicBezTo>
                  <a:pt x="328" y="248"/>
                  <a:pt x="322" y="258"/>
                  <a:pt x="316" y="267"/>
                </a:cubicBezTo>
                <a:cubicBezTo>
                  <a:pt x="310" y="277"/>
                  <a:pt x="303" y="285"/>
                  <a:pt x="295" y="293"/>
                </a:cubicBezTo>
                <a:cubicBezTo>
                  <a:pt x="287" y="301"/>
                  <a:pt x="278" y="308"/>
                  <a:pt x="269" y="315"/>
                </a:cubicBezTo>
                <a:cubicBezTo>
                  <a:pt x="259" y="321"/>
                  <a:pt x="249" y="326"/>
                  <a:pt x="239" y="331"/>
                </a:cubicBezTo>
                <a:cubicBezTo>
                  <a:pt x="228" y="335"/>
                  <a:pt x="218" y="338"/>
                  <a:pt x="207" y="340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2" y="345"/>
                  <a:pt x="151" y="344"/>
                  <a:pt x="139" y="340"/>
                </a:cubicBezTo>
                <a:cubicBezTo>
                  <a:pt x="128" y="338"/>
                  <a:pt x="118" y="335"/>
                  <a:pt x="107" y="331"/>
                </a:cubicBezTo>
                <a:cubicBezTo>
                  <a:pt x="97" y="326"/>
                  <a:pt x="87" y="321"/>
                  <a:pt x="77" y="315"/>
                </a:cubicBezTo>
                <a:cubicBezTo>
                  <a:pt x="68" y="308"/>
                  <a:pt x="59" y="301"/>
                  <a:pt x="51" y="293"/>
                </a:cubicBezTo>
                <a:cubicBezTo>
                  <a:pt x="43" y="285"/>
                  <a:pt x="36" y="277"/>
                  <a:pt x="30" y="267"/>
                </a:cubicBezTo>
                <a:cubicBezTo>
                  <a:pt x="24" y="258"/>
                  <a:pt x="18" y="248"/>
                  <a:pt x="14" y="237"/>
                </a:cubicBezTo>
                <a:cubicBezTo>
                  <a:pt x="10" y="227"/>
                  <a:pt x="6" y="216"/>
                  <a:pt x="3" y="205"/>
                </a:cubicBezTo>
                <a:cubicBezTo>
                  <a:pt x="1" y="194"/>
                  <a:pt x="0" y="183"/>
                  <a:pt x="0" y="172"/>
                </a:cubicBezTo>
                <a:cubicBezTo>
                  <a:pt x="0" y="160"/>
                  <a:pt x="1" y="149"/>
                  <a:pt x="3" y="138"/>
                </a:cubicBezTo>
                <a:cubicBezTo>
                  <a:pt x="6" y="127"/>
                  <a:pt x="10" y="116"/>
                  <a:pt x="14" y="106"/>
                </a:cubicBezTo>
                <a:cubicBezTo>
                  <a:pt x="18" y="95"/>
                  <a:pt x="24" y="85"/>
                  <a:pt x="30" y="76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8" y="35"/>
                  <a:pt x="77" y="29"/>
                </a:cubicBezTo>
                <a:cubicBezTo>
                  <a:pt x="87" y="22"/>
                  <a:pt x="97" y="17"/>
                  <a:pt x="107" y="13"/>
                </a:cubicBezTo>
                <a:cubicBezTo>
                  <a:pt x="118" y="8"/>
                  <a:pt x="128" y="5"/>
                  <a:pt x="139" y="3"/>
                </a:cubicBezTo>
                <a:cubicBezTo>
                  <a:pt x="151" y="1"/>
                  <a:pt x="162" y="0"/>
                  <a:pt x="173" y="0"/>
                </a:cubicBezTo>
                <a:cubicBezTo>
                  <a:pt x="184" y="0"/>
                  <a:pt x="195" y="1"/>
                  <a:pt x="207" y="3"/>
                </a:cubicBezTo>
                <a:cubicBezTo>
                  <a:pt x="218" y="5"/>
                  <a:pt x="228" y="8"/>
                  <a:pt x="239" y="13"/>
                </a:cubicBezTo>
                <a:cubicBezTo>
                  <a:pt x="249" y="17"/>
                  <a:pt x="259" y="22"/>
                  <a:pt x="269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7"/>
                  <a:pt x="316" y="76"/>
                </a:cubicBezTo>
                <a:cubicBezTo>
                  <a:pt x="322" y="85"/>
                  <a:pt x="328" y="95"/>
                  <a:pt x="332" y="106"/>
                </a:cubicBezTo>
                <a:cubicBezTo>
                  <a:pt x="336" y="116"/>
                  <a:pt x="339" y="127"/>
                  <a:pt x="342" y="138"/>
                </a:cubicBezTo>
                <a:cubicBezTo>
                  <a:pt x="344" y="149"/>
                  <a:pt x="345" y="160"/>
                  <a:pt x="345" y="172"/>
                </a:cubicBezTo>
                <a:close/>
              </a:path>
            </a:pathLst>
          </a:custGeom>
          <a:solidFill>
            <a:srgbClr val="2022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9" name="テキスト ボックス 118"/>
          <p:cNvSpPr txBox="1"/>
          <p:nvPr/>
        </p:nvSpPr>
        <p:spPr>
          <a:xfrm>
            <a:off x="819000" y="539739"/>
            <a:ext cx="7925400" cy="609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800" b="1" u="none" strike="noStrike">
                <a:solidFill>
                  <a:srgbClr val="202228"/>
                </a:solidFill>
                <a:effectLst/>
                <a:uFillTx/>
                <a:latin typeface="HiraKakuProN-W6"/>
                <a:ea typeface="HiraKakuProN-W6"/>
              </a:rPr>
              <a:t>アルゴンの蒸気圧曲線の計算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20" name="図 119"/>
          <p:cNvPicPr/>
          <p:nvPr/>
        </p:nvPicPr>
        <p:blipFill>
          <a:blip r:embed="rId3"/>
          <a:stretch/>
        </p:blipFill>
        <p:spPr>
          <a:xfrm>
            <a:off x="1449726" y="2288160"/>
            <a:ext cx="3976358" cy="375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テキスト ボックス 149"/>
          <p:cNvSpPr txBox="1"/>
          <p:nvPr/>
        </p:nvSpPr>
        <p:spPr>
          <a:xfrm>
            <a:off x="990720" y="1573920"/>
            <a:ext cx="49536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00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先⾏研究と近い値が得られた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" name="テキスト ボックス 151"/>
          <p:cNvSpPr txBox="1"/>
          <p:nvPr/>
        </p:nvSpPr>
        <p:spPr>
          <a:xfrm>
            <a:off x="666720" y="293040"/>
            <a:ext cx="381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FDFCFF"/>
                </a:solidFill>
                <a:effectLst/>
                <a:uFillTx/>
                <a:latin typeface="HiraKakuProN-W3"/>
                <a:ea typeface="HiraKakuProN-W3"/>
              </a:rPr>
              <a:t>モンテカルロシミュレーション </a:t>
            </a:r>
            <a:r>
              <a:rPr lang="en-US" sz="1350" b="0" u="none" strike="noStrike">
                <a:solidFill>
                  <a:srgbClr val="FDFCFF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Hackathon </a:t>
            </a:r>
            <a:r>
              <a:rPr lang="ja-JP" sz="1350" b="0" u="none" strike="noStrike">
                <a:solidFill>
                  <a:srgbClr val="FDFCFF"/>
                </a:solidFill>
                <a:effectLst/>
                <a:uFillTx/>
                <a:latin typeface="HiraKakuProN-W3"/>
                <a:ea typeface="HiraKakuProN-W3"/>
              </a:rPr>
              <a:t>まとめ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3" name="テキスト ボックス 152"/>
          <p:cNvSpPr txBox="1"/>
          <p:nvPr/>
        </p:nvSpPr>
        <p:spPr>
          <a:xfrm>
            <a:off x="666720" y="283320"/>
            <a:ext cx="381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モンテカルロシミュレーション </a:t>
            </a:r>
            <a:r>
              <a:rPr lang="en-US" sz="1350" b="0" u="none" strike="noStrike">
                <a:solidFill>
                  <a:srgbClr val="202228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Hackathon </a:t>
            </a:r>
            <a:r>
              <a:rPr lang="ja-JP" sz="1350" b="0" u="none" strike="noStrike">
                <a:solidFill>
                  <a:srgbClr val="202228"/>
                </a:solidFill>
                <a:effectLst/>
                <a:uFillTx/>
                <a:latin typeface="HiraKakuProN-W3"/>
                <a:ea typeface="HiraKakuProN-W3"/>
              </a:rPr>
              <a:t>まとめ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4" name="テキスト ボックス 153"/>
          <p:cNvSpPr txBox="1"/>
          <p:nvPr/>
        </p:nvSpPr>
        <p:spPr>
          <a:xfrm>
            <a:off x="666720" y="6341400"/>
            <a:ext cx="1224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DFCFF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CompPhysHack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5" name="テキスト ボックス 154"/>
          <p:cNvSpPr txBox="1"/>
          <p:nvPr/>
        </p:nvSpPr>
        <p:spPr>
          <a:xfrm>
            <a:off x="666720" y="6331680"/>
            <a:ext cx="1224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202228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CompPhysHack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7E13042-50D5-7A9B-947B-13C06CC45D81}"/>
              </a:ext>
            </a:extLst>
          </p:cNvPr>
          <p:cNvSpPr txBox="1"/>
          <p:nvPr/>
        </p:nvSpPr>
        <p:spPr>
          <a:xfrm>
            <a:off x="11774520" y="6242040"/>
            <a:ext cx="11702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A73FD02-6496-42C4-699E-93063BD2DE5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647210" y="2288159"/>
            <a:ext cx="3976359" cy="3493251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140</Words>
  <Application>Microsoft Macintosh PowerPoint</Application>
  <PresentationFormat>ワイド画面</PresentationFormat>
  <Paragraphs>36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5" baseType="lpstr">
      <vt:lpstr>.SFNS-Regular_wdth_opsz120000_GRAD_wght</vt:lpstr>
      <vt:lpstr>.SFNS-Regular_wdth_opsz180000_GRAD_wght</vt:lpstr>
      <vt:lpstr>.SFNS-Regular_wdth_opsz280000_GRAD_wght</vt:lpstr>
      <vt:lpstr>.SFNS-Regular_wdth_opsz280000_GRAD_wght2BC0000</vt:lpstr>
      <vt:lpstr>HiraKakuProN-W3</vt:lpstr>
      <vt:lpstr>HiraKakuProN-W6</vt:lpstr>
      <vt:lpstr>游ゴシック</vt:lpstr>
      <vt:lpstr>游明朝体</vt:lpstr>
      <vt:lpstr>Arial</vt:lpstr>
      <vt:lpstr>Symbol</vt:lpstr>
      <vt:lpstr>Wingdings</vt:lpstr>
      <vt:lpstr>Office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yamamoto.yuki.57u@st.kyoto-u.ac.jp</cp:lastModifiedBy>
  <cp:revision>3</cp:revision>
  <dcterms:modified xsi:type="dcterms:W3CDTF">2026-03-08T02:44:57Z</dcterms:modified>
  <dc:language>ja-JP</dc:language>
</cp:coreProperties>
</file>