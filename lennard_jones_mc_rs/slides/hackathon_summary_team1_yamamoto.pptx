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60"/>
    <p:restoredTop sz="94679"/>
  </p:normalViewPr>
  <p:slideViewPr>
    <p:cSldViewPr snapToGrid="0">
      <p:cViewPr varScale="1">
        <p:scale>
          <a:sx n="68" d="100"/>
          <a:sy n="68" d="100"/>
        </p:scale>
        <p:origin x="240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フリーフォーム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フリーフォーム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フリーフォーム 8"/>
          <p:cNvSpPr/>
          <p:nvPr/>
        </p:nvSpPr>
        <p:spPr>
          <a:xfrm>
            <a:off x="609480" y="1078011"/>
            <a:ext cx="57600" cy="848160"/>
          </a:xfrm>
          <a:custGeom>
            <a:avLst/>
            <a:gdLst/>
            <a:ahLst/>
            <a:cxnLst/>
            <a:rect l="0" t="0" r="r" b="b"/>
            <a:pathLst>
              <a:path w="160" h="2356">
                <a:moveTo>
                  <a:pt x="0" y="0"/>
                </a:moveTo>
                <a:lnTo>
                  <a:pt x="160" y="0"/>
                </a:lnTo>
                <a:lnTo>
                  <a:pt x="160" y="2356"/>
                </a:lnTo>
                <a:lnTo>
                  <a:pt x="0" y="2356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フリーフォーム 9"/>
          <p:cNvSpPr/>
          <p:nvPr/>
        </p:nvSpPr>
        <p:spPr>
          <a:xfrm>
            <a:off x="676080" y="252100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39" y="218"/>
                  <a:pt x="336" y="229"/>
                  <a:pt x="332" y="239"/>
                </a:cubicBezTo>
                <a:cubicBezTo>
                  <a:pt x="328" y="250"/>
                  <a:pt x="322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7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7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60"/>
                  <a:pt x="18" y="250"/>
                  <a:pt x="14" y="239"/>
                </a:cubicBezTo>
                <a:cubicBezTo>
                  <a:pt x="10" y="229"/>
                  <a:pt x="6" y="218"/>
                  <a:pt x="3" y="207"/>
                </a:cubicBezTo>
                <a:cubicBezTo>
                  <a:pt x="1" y="196"/>
                  <a:pt x="0" y="185"/>
                  <a:pt x="0" y="173"/>
                </a:cubicBezTo>
                <a:cubicBezTo>
                  <a:pt x="0" y="162"/>
                  <a:pt x="1" y="151"/>
                  <a:pt x="3" y="140"/>
                </a:cubicBezTo>
                <a:cubicBezTo>
                  <a:pt x="6" y="129"/>
                  <a:pt x="10" y="118"/>
                  <a:pt x="14" y="108"/>
                </a:cubicBezTo>
                <a:cubicBezTo>
                  <a:pt x="18" y="96"/>
                  <a:pt x="24" y="86"/>
                  <a:pt x="30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4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2"/>
                  <a:pt x="162" y="0"/>
                  <a:pt x="173" y="0"/>
                </a:cubicBezTo>
                <a:cubicBezTo>
                  <a:pt x="184" y="0"/>
                  <a:pt x="195" y="2"/>
                  <a:pt x="207" y="4"/>
                </a:cubicBezTo>
                <a:cubicBezTo>
                  <a:pt x="218" y="6"/>
                  <a:pt x="228" y="9"/>
                  <a:pt x="239" y="14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2" y="86"/>
                  <a:pt x="328" y="96"/>
                  <a:pt x="332" y="108"/>
                </a:cubicBezTo>
                <a:cubicBezTo>
                  <a:pt x="336" y="118"/>
                  <a:pt x="339" y="129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19000" y="1074051"/>
            <a:ext cx="7789680" cy="86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800" b="1" u="none" strike="noStrike">
                <a:solidFill>
                  <a:srgbClr val="202228"/>
                </a:solidFill>
                <a:effectLst/>
                <a:uFillTx/>
                <a:latin typeface=".SFNS-Regular_wdth_opsz400000_GRAD_wght2BC0000"/>
                <a:ea typeface=".SFNS-Regular_wdth_opsz400000_GRAD_wght2BC0000"/>
              </a:rPr>
              <a:t>Monte Carlo Simulation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" name="フリーフォーム 11"/>
          <p:cNvSpPr/>
          <p:nvPr/>
        </p:nvSpPr>
        <p:spPr>
          <a:xfrm>
            <a:off x="676080" y="320680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39" y="217"/>
                  <a:pt x="336" y="228"/>
                  <a:pt x="332" y="238"/>
                </a:cubicBezTo>
                <a:cubicBezTo>
                  <a:pt x="328" y="249"/>
                  <a:pt x="322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7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7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60"/>
                  <a:pt x="18" y="249"/>
                  <a:pt x="14" y="238"/>
                </a:cubicBezTo>
                <a:cubicBezTo>
                  <a:pt x="10" y="228"/>
                  <a:pt x="6" y="217"/>
                  <a:pt x="3" y="206"/>
                </a:cubicBezTo>
                <a:cubicBezTo>
                  <a:pt x="1" y="195"/>
                  <a:pt x="0" y="184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6" y="128"/>
                  <a:pt x="10" y="117"/>
                  <a:pt x="14" y="107"/>
                </a:cubicBezTo>
                <a:cubicBezTo>
                  <a:pt x="18" y="96"/>
                  <a:pt x="24" y="86"/>
                  <a:pt x="30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4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2"/>
                  <a:pt x="162" y="0"/>
                  <a:pt x="173" y="0"/>
                </a:cubicBezTo>
                <a:cubicBezTo>
                  <a:pt x="184" y="0"/>
                  <a:pt x="195" y="2"/>
                  <a:pt x="207" y="4"/>
                </a:cubicBezTo>
                <a:cubicBezTo>
                  <a:pt x="218" y="6"/>
                  <a:pt x="228" y="9"/>
                  <a:pt x="239" y="14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2" y="86"/>
                  <a:pt x="328" y="96"/>
                  <a:pt x="332" y="107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90720" y="2304640"/>
            <a:ext cx="614232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Model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: 2D Lennard-Jones potential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フリーフォーム 13"/>
          <p:cNvSpPr/>
          <p:nvPr/>
        </p:nvSpPr>
        <p:spPr>
          <a:xfrm>
            <a:off x="676080" y="389260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39" y="218"/>
                  <a:pt x="336" y="229"/>
                  <a:pt x="332" y="239"/>
                </a:cubicBezTo>
                <a:cubicBezTo>
                  <a:pt x="328" y="250"/>
                  <a:pt x="322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7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7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60"/>
                  <a:pt x="18" y="250"/>
                  <a:pt x="14" y="239"/>
                </a:cubicBezTo>
                <a:cubicBezTo>
                  <a:pt x="10" y="229"/>
                  <a:pt x="6" y="218"/>
                  <a:pt x="3" y="207"/>
                </a:cubicBezTo>
                <a:cubicBezTo>
                  <a:pt x="1" y="196"/>
                  <a:pt x="0" y="185"/>
                  <a:pt x="0" y="173"/>
                </a:cubicBezTo>
                <a:cubicBezTo>
                  <a:pt x="0" y="162"/>
                  <a:pt x="1" y="151"/>
                  <a:pt x="3" y="140"/>
                </a:cubicBezTo>
                <a:cubicBezTo>
                  <a:pt x="6" y="129"/>
                  <a:pt x="10" y="118"/>
                  <a:pt x="14" y="108"/>
                </a:cubicBezTo>
                <a:cubicBezTo>
                  <a:pt x="18" y="97"/>
                  <a:pt x="24" y="87"/>
                  <a:pt x="30" y="78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4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2"/>
                  <a:pt x="162" y="0"/>
                  <a:pt x="173" y="0"/>
                </a:cubicBezTo>
                <a:cubicBezTo>
                  <a:pt x="184" y="0"/>
                  <a:pt x="195" y="2"/>
                  <a:pt x="207" y="4"/>
                </a:cubicBezTo>
                <a:cubicBezTo>
                  <a:pt x="218" y="6"/>
                  <a:pt x="228" y="9"/>
                  <a:pt x="239" y="14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8"/>
                </a:cubicBezTo>
                <a:cubicBezTo>
                  <a:pt x="322" y="87"/>
                  <a:pt x="328" y="97"/>
                  <a:pt x="332" y="108"/>
                </a:cubicBezTo>
                <a:cubicBezTo>
                  <a:pt x="336" y="118"/>
                  <a:pt x="339" y="129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990720" y="2990440"/>
            <a:ext cx="76665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Result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: Molecular motion looked reasonable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0720" y="3676240"/>
            <a:ext cx="79617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Next goal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: Verify implementation correctness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294978" y="4362040"/>
            <a:ext cx="863676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 dirty="0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     </a:t>
            </a:r>
            <a:r>
              <a:rPr lang="en-US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→ Calculate argon vapor pressure curve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666720" y="293040"/>
            <a:ext cx="3507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Monte Carlo Simulation | Hackathon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666720" y="283320"/>
            <a:ext cx="3507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Monte Carlo Simulation | Hackathon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666720" y="634140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666720" y="633168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9FD257-B2D3-F7A4-8BB1-29C255A63626}"/>
              </a:ext>
            </a:extLst>
          </p:cNvPr>
          <p:cNvSpPr txBox="1"/>
          <p:nvPr/>
        </p:nvSpPr>
        <p:spPr>
          <a:xfrm>
            <a:off x="11774520" y="636396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53" name="画面収録 2026-03-04 11.02.43_737EE628-D86C-4CC2-BBC4-F93A31C698C1.mp4">
            <a:hlinkClick r:id="" action="ppaction://media"/>
            <a:extLst>
              <a:ext uri="{FF2B5EF4-FFF2-40B4-BE49-F238E27FC236}">
                <a16:creationId xmlns:a16="http://schemas.microsoft.com/office/drawing/2014/main" id="{8EBF7632-A3C3-DF21-E468-1597FFADF8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71486" y="1955460"/>
            <a:ext cx="3417154" cy="333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16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フリーフォーム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フリーフォーム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" name="フリーフォーム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" name="フリーフォーム 55"/>
          <p:cNvSpPr/>
          <p:nvPr/>
        </p:nvSpPr>
        <p:spPr>
          <a:xfrm>
            <a:off x="609480" y="813300"/>
            <a:ext cx="57600" cy="857880"/>
          </a:xfrm>
          <a:custGeom>
            <a:avLst/>
            <a:gdLst/>
            <a:ahLst/>
            <a:cxnLst/>
            <a:rect l="0" t="0" r="r" b="b"/>
            <a:pathLst>
              <a:path w="160" h="2383">
                <a:moveTo>
                  <a:pt x="0" y="0"/>
                </a:moveTo>
                <a:lnTo>
                  <a:pt x="160" y="0"/>
                </a:lnTo>
                <a:lnTo>
                  <a:pt x="160" y="2383"/>
                </a:lnTo>
                <a:lnTo>
                  <a:pt x="0" y="2383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フリーフォーム 56"/>
          <p:cNvSpPr/>
          <p:nvPr/>
        </p:nvSpPr>
        <p:spPr>
          <a:xfrm>
            <a:off x="1210980" y="4742370"/>
            <a:ext cx="3067200" cy="28800"/>
          </a:xfrm>
          <a:custGeom>
            <a:avLst/>
            <a:gdLst/>
            <a:ahLst/>
            <a:cxnLst/>
            <a:rect l="0" t="0" r="r" b="b"/>
            <a:pathLst>
              <a:path w="8520" h="80">
                <a:moveTo>
                  <a:pt x="0" y="0"/>
                </a:moveTo>
                <a:lnTo>
                  <a:pt x="8520" y="0"/>
                </a:lnTo>
                <a:lnTo>
                  <a:pt x="852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フリーフォーム 57"/>
          <p:cNvSpPr/>
          <p:nvPr/>
        </p:nvSpPr>
        <p:spPr>
          <a:xfrm>
            <a:off x="4277820" y="4742370"/>
            <a:ext cx="2505600" cy="28800"/>
          </a:xfrm>
          <a:custGeom>
            <a:avLst/>
            <a:gdLst/>
            <a:ahLst/>
            <a:cxnLst/>
            <a:rect l="0" t="0" r="r" b="b"/>
            <a:pathLst>
              <a:path w="6960" h="80">
                <a:moveTo>
                  <a:pt x="0" y="0"/>
                </a:moveTo>
                <a:lnTo>
                  <a:pt x="6960" y="0"/>
                </a:lnTo>
                <a:lnTo>
                  <a:pt x="696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フリーフォーム 58"/>
          <p:cNvSpPr/>
          <p:nvPr/>
        </p:nvSpPr>
        <p:spPr>
          <a:xfrm>
            <a:off x="6783060" y="4742370"/>
            <a:ext cx="1991160" cy="28800"/>
          </a:xfrm>
          <a:custGeom>
            <a:avLst/>
            <a:gdLst/>
            <a:ahLst/>
            <a:cxnLst/>
            <a:rect l="0" t="0" r="r" b="b"/>
            <a:pathLst>
              <a:path w="5531" h="80">
                <a:moveTo>
                  <a:pt x="0" y="0"/>
                </a:moveTo>
                <a:lnTo>
                  <a:pt x="5531" y="0"/>
                </a:lnTo>
                <a:lnTo>
                  <a:pt x="5531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フリーフォーム 59"/>
          <p:cNvSpPr/>
          <p:nvPr/>
        </p:nvSpPr>
        <p:spPr>
          <a:xfrm>
            <a:off x="8773860" y="4742370"/>
            <a:ext cx="2171880" cy="28800"/>
          </a:xfrm>
          <a:custGeom>
            <a:avLst/>
            <a:gdLst/>
            <a:ahLst/>
            <a:cxnLst/>
            <a:rect l="0" t="0" r="r" b="b"/>
            <a:pathLst>
              <a:path w="6033" h="80">
                <a:moveTo>
                  <a:pt x="0" y="0"/>
                </a:moveTo>
                <a:lnTo>
                  <a:pt x="6033" y="0"/>
                </a:lnTo>
                <a:lnTo>
                  <a:pt x="603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1" name="フリーフォーム 60"/>
          <p:cNvSpPr/>
          <p:nvPr/>
        </p:nvSpPr>
        <p:spPr>
          <a:xfrm>
            <a:off x="1210980" y="4742370"/>
            <a:ext cx="3067200" cy="28800"/>
          </a:xfrm>
          <a:custGeom>
            <a:avLst/>
            <a:gdLst/>
            <a:ahLst/>
            <a:cxnLst/>
            <a:rect l="0" t="0" r="r" b="b"/>
            <a:pathLst>
              <a:path w="8520" h="80">
                <a:moveTo>
                  <a:pt x="0" y="0"/>
                </a:moveTo>
                <a:lnTo>
                  <a:pt x="8520" y="0"/>
                </a:lnTo>
                <a:lnTo>
                  <a:pt x="852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2" name="フリーフォーム 61"/>
          <p:cNvSpPr/>
          <p:nvPr/>
        </p:nvSpPr>
        <p:spPr>
          <a:xfrm>
            <a:off x="4277820" y="4742370"/>
            <a:ext cx="2505600" cy="28800"/>
          </a:xfrm>
          <a:custGeom>
            <a:avLst/>
            <a:gdLst/>
            <a:ahLst/>
            <a:cxnLst/>
            <a:rect l="0" t="0" r="r" b="b"/>
            <a:pathLst>
              <a:path w="6960" h="80">
                <a:moveTo>
                  <a:pt x="0" y="0"/>
                </a:moveTo>
                <a:lnTo>
                  <a:pt x="6960" y="0"/>
                </a:lnTo>
                <a:lnTo>
                  <a:pt x="696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3" name="フリーフォーム 62"/>
          <p:cNvSpPr/>
          <p:nvPr/>
        </p:nvSpPr>
        <p:spPr>
          <a:xfrm>
            <a:off x="6783060" y="4742370"/>
            <a:ext cx="1991160" cy="28800"/>
          </a:xfrm>
          <a:custGeom>
            <a:avLst/>
            <a:gdLst/>
            <a:ahLst/>
            <a:cxnLst/>
            <a:rect l="0" t="0" r="r" b="b"/>
            <a:pathLst>
              <a:path w="5531" h="80">
                <a:moveTo>
                  <a:pt x="0" y="0"/>
                </a:moveTo>
                <a:lnTo>
                  <a:pt x="5531" y="0"/>
                </a:lnTo>
                <a:lnTo>
                  <a:pt x="5531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フリーフォーム 63"/>
          <p:cNvSpPr/>
          <p:nvPr/>
        </p:nvSpPr>
        <p:spPr>
          <a:xfrm>
            <a:off x="8773860" y="4742370"/>
            <a:ext cx="2171880" cy="28800"/>
          </a:xfrm>
          <a:custGeom>
            <a:avLst/>
            <a:gdLst/>
            <a:ahLst/>
            <a:cxnLst/>
            <a:rect l="0" t="0" r="r" b="b"/>
            <a:pathLst>
              <a:path w="6033" h="80">
                <a:moveTo>
                  <a:pt x="0" y="0"/>
                </a:moveTo>
                <a:lnTo>
                  <a:pt x="6033" y="0"/>
                </a:lnTo>
                <a:lnTo>
                  <a:pt x="603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フリーフォーム 64"/>
          <p:cNvSpPr/>
          <p:nvPr/>
        </p:nvSpPr>
        <p:spPr>
          <a:xfrm>
            <a:off x="676080" y="214710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39" y="216"/>
                  <a:pt x="336" y="227"/>
                  <a:pt x="332" y="237"/>
                </a:cubicBezTo>
                <a:cubicBezTo>
                  <a:pt x="328" y="248"/>
                  <a:pt x="322" y="258"/>
                  <a:pt x="316" y="267"/>
                </a:cubicBezTo>
                <a:cubicBezTo>
                  <a:pt x="310" y="277"/>
                  <a:pt x="303" y="285"/>
                  <a:pt x="295" y="293"/>
                </a:cubicBezTo>
                <a:cubicBezTo>
                  <a:pt x="287" y="301"/>
                  <a:pt x="278" y="308"/>
                  <a:pt x="269" y="315"/>
                </a:cubicBezTo>
                <a:cubicBezTo>
                  <a:pt x="259" y="321"/>
                  <a:pt x="249" y="326"/>
                  <a:pt x="239" y="331"/>
                </a:cubicBezTo>
                <a:cubicBezTo>
                  <a:pt x="228" y="335"/>
                  <a:pt x="218" y="338"/>
                  <a:pt x="207" y="340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0"/>
                </a:cubicBezTo>
                <a:cubicBezTo>
                  <a:pt x="128" y="338"/>
                  <a:pt x="118" y="335"/>
                  <a:pt x="107" y="331"/>
                </a:cubicBezTo>
                <a:cubicBezTo>
                  <a:pt x="97" y="326"/>
                  <a:pt x="87" y="321"/>
                  <a:pt x="77" y="315"/>
                </a:cubicBezTo>
                <a:cubicBezTo>
                  <a:pt x="68" y="308"/>
                  <a:pt x="59" y="301"/>
                  <a:pt x="51" y="293"/>
                </a:cubicBezTo>
                <a:cubicBezTo>
                  <a:pt x="43" y="285"/>
                  <a:pt x="36" y="277"/>
                  <a:pt x="30" y="267"/>
                </a:cubicBezTo>
                <a:cubicBezTo>
                  <a:pt x="24" y="258"/>
                  <a:pt x="18" y="248"/>
                  <a:pt x="14" y="237"/>
                </a:cubicBezTo>
                <a:cubicBezTo>
                  <a:pt x="10" y="227"/>
                  <a:pt x="6" y="216"/>
                  <a:pt x="3" y="205"/>
                </a:cubicBezTo>
                <a:cubicBezTo>
                  <a:pt x="1" y="194"/>
                  <a:pt x="0" y="183"/>
                  <a:pt x="0" y="172"/>
                </a:cubicBezTo>
                <a:cubicBezTo>
                  <a:pt x="0" y="160"/>
                  <a:pt x="1" y="149"/>
                  <a:pt x="3" y="138"/>
                </a:cubicBezTo>
                <a:cubicBezTo>
                  <a:pt x="6" y="127"/>
                  <a:pt x="10" y="116"/>
                  <a:pt x="14" y="106"/>
                </a:cubicBezTo>
                <a:cubicBezTo>
                  <a:pt x="18" y="95"/>
                  <a:pt x="24" y="85"/>
                  <a:pt x="30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8" y="35"/>
                  <a:pt x="77" y="29"/>
                </a:cubicBezTo>
                <a:cubicBezTo>
                  <a:pt x="87" y="22"/>
                  <a:pt x="97" y="17"/>
                  <a:pt x="107" y="13"/>
                </a:cubicBezTo>
                <a:cubicBezTo>
                  <a:pt x="118" y="8"/>
                  <a:pt x="128" y="5"/>
                  <a:pt x="139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4" y="0"/>
                  <a:pt x="195" y="1"/>
                  <a:pt x="207" y="3"/>
                </a:cubicBezTo>
                <a:cubicBezTo>
                  <a:pt x="218" y="5"/>
                  <a:pt x="228" y="8"/>
                  <a:pt x="239" y="13"/>
                </a:cubicBezTo>
                <a:cubicBezTo>
                  <a:pt x="249" y="17"/>
                  <a:pt x="259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2" y="85"/>
                  <a:pt x="328" y="95"/>
                  <a:pt x="332" y="106"/>
                </a:cubicBezTo>
                <a:cubicBezTo>
                  <a:pt x="336" y="116"/>
                  <a:pt x="339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819000" y="809700"/>
            <a:ext cx="9415800" cy="86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800" b="1" u="none" strike="noStrike" dirty="0">
                <a:solidFill>
                  <a:srgbClr val="202228"/>
                </a:solidFill>
                <a:effectLst/>
                <a:uFillTx/>
                <a:latin typeface=".SFNS-Regular_wdth_opsz400000_GRAD_wght2BC0000"/>
                <a:ea typeface=".SFNS-Regular_wdth_opsz400000_GRAD_wght2BC0000"/>
              </a:rPr>
              <a:t>Argon Vapor Pressure Curve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990720" y="1930380"/>
            <a:ext cx="8628068" cy="4616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 dirty="0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GEMC</a:t>
            </a:r>
            <a:r>
              <a:rPr lang="en-US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 = Gibbs Ensemble MC (vapor–liquid </a:t>
            </a:r>
            <a:r>
              <a:rPr lang="en-US" altLang="ja-JP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coexistence)</a:t>
            </a:r>
            <a:endParaRPr lang="en-US" altLang="ja-JP" sz="3000" dirty="0">
              <a:solidFill>
                <a:srgbClr val="000000"/>
              </a:solidFill>
              <a:latin typeface="游明朝体"/>
            </a:endParaRPr>
          </a:p>
        </p:txBody>
      </p:sp>
      <p:sp>
        <p:nvSpPr>
          <p:cNvPr id="68" name="フリーフォーム 67"/>
          <p:cNvSpPr/>
          <p:nvPr/>
        </p:nvSpPr>
        <p:spPr>
          <a:xfrm>
            <a:off x="676080" y="285227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39" y="216"/>
                  <a:pt x="336" y="227"/>
                  <a:pt x="332" y="237"/>
                </a:cubicBezTo>
                <a:cubicBezTo>
                  <a:pt x="328" y="248"/>
                  <a:pt x="322" y="258"/>
                  <a:pt x="316" y="267"/>
                </a:cubicBezTo>
                <a:cubicBezTo>
                  <a:pt x="310" y="277"/>
                  <a:pt x="303" y="285"/>
                  <a:pt x="295" y="293"/>
                </a:cubicBezTo>
                <a:cubicBezTo>
                  <a:pt x="287" y="301"/>
                  <a:pt x="278" y="309"/>
                  <a:pt x="269" y="316"/>
                </a:cubicBezTo>
                <a:cubicBezTo>
                  <a:pt x="259" y="322"/>
                  <a:pt x="249" y="327"/>
                  <a:pt x="239" y="332"/>
                </a:cubicBezTo>
                <a:cubicBezTo>
                  <a:pt x="228" y="336"/>
                  <a:pt x="218" y="339"/>
                  <a:pt x="207" y="341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1"/>
                </a:cubicBezTo>
                <a:cubicBezTo>
                  <a:pt x="128" y="339"/>
                  <a:pt x="118" y="336"/>
                  <a:pt x="107" y="332"/>
                </a:cubicBezTo>
                <a:cubicBezTo>
                  <a:pt x="97" y="327"/>
                  <a:pt x="87" y="322"/>
                  <a:pt x="77" y="316"/>
                </a:cubicBezTo>
                <a:cubicBezTo>
                  <a:pt x="68" y="309"/>
                  <a:pt x="59" y="301"/>
                  <a:pt x="51" y="293"/>
                </a:cubicBezTo>
                <a:cubicBezTo>
                  <a:pt x="43" y="285"/>
                  <a:pt x="36" y="277"/>
                  <a:pt x="30" y="267"/>
                </a:cubicBezTo>
                <a:cubicBezTo>
                  <a:pt x="24" y="258"/>
                  <a:pt x="18" y="248"/>
                  <a:pt x="14" y="237"/>
                </a:cubicBezTo>
                <a:cubicBezTo>
                  <a:pt x="10" y="227"/>
                  <a:pt x="6" y="216"/>
                  <a:pt x="3" y="205"/>
                </a:cubicBezTo>
                <a:cubicBezTo>
                  <a:pt x="1" y="194"/>
                  <a:pt x="0" y="183"/>
                  <a:pt x="0" y="172"/>
                </a:cubicBezTo>
                <a:cubicBezTo>
                  <a:pt x="0" y="160"/>
                  <a:pt x="1" y="149"/>
                  <a:pt x="3" y="138"/>
                </a:cubicBezTo>
                <a:cubicBezTo>
                  <a:pt x="6" y="127"/>
                  <a:pt x="10" y="116"/>
                  <a:pt x="14" y="106"/>
                </a:cubicBezTo>
                <a:cubicBezTo>
                  <a:pt x="18" y="95"/>
                  <a:pt x="24" y="85"/>
                  <a:pt x="30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8" y="35"/>
                  <a:pt x="77" y="29"/>
                </a:cubicBezTo>
                <a:cubicBezTo>
                  <a:pt x="87" y="22"/>
                  <a:pt x="97" y="17"/>
                  <a:pt x="107" y="13"/>
                </a:cubicBezTo>
                <a:cubicBezTo>
                  <a:pt x="118" y="8"/>
                  <a:pt x="128" y="5"/>
                  <a:pt x="139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4" y="0"/>
                  <a:pt x="195" y="1"/>
                  <a:pt x="207" y="3"/>
                </a:cubicBezTo>
                <a:cubicBezTo>
                  <a:pt x="218" y="5"/>
                  <a:pt x="228" y="8"/>
                  <a:pt x="239" y="13"/>
                </a:cubicBezTo>
                <a:cubicBezTo>
                  <a:pt x="249" y="17"/>
                  <a:pt x="259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2" y="85"/>
                  <a:pt x="328" y="95"/>
                  <a:pt x="332" y="106"/>
                </a:cubicBezTo>
                <a:cubicBezTo>
                  <a:pt x="336" y="116"/>
                  <a:pt x="339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990720" y="2635550"/>
            <a:ext cx="10450168" cy="4616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Python implementation(too slow) → migrated to Rust </a:t>
            </a:r>
            <a:r>
              <a:rPr lang="en-US" altLang="ja-JP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→  speedup!</a:t>
            </a:r>
            <a:endParaRPr lang="en-US" altLang="ja-JP" sz="3000" dirty="0">
              <a:solidFill>
                <a:srgbClr val="000000"/>
              </a:solidFill>
              <a:latin typeface="游明朝体"/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591780" y="3420810"/>
            <a:ext cx="8414932" cy="4616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sng" strike="noStrike" dirty="0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Computation time comparison (no cutoff, no cell list)</a:t>
            </a:r>
            <a:endParaRPr lang="en-US" sz="3000" b="0" u="sng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1401780" y="4154130"/>
            <a:ext cx="199044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Condition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4471860" y="4154130"/>
            <a:ext cx="209628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Python (s)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6972780" y="4154130"/>
            <a:ext cx="160920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Rust (s)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8967900" y="4154130"/>
            <a:ext cx="180072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Speedup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1401780" y="4830570"/>
            <a:ext cx="247896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N=20, T=114K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1401780" y="5364090"/>
            <a:ext cx="207684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40000 steps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481660" y="5097330"/>
            <a:ext cx="95400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273.3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7697820" y="5097330"/>
            <a:ext cx="74232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0.30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9502140" y="5097330"/>
            <a:ext cx="108144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~910×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666720" y="293040"/>
            <a:ext cx="3507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Monte Carlo Simulation | Hackathon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" name="テキスト ボックス 112"/>
          <p:cNvSpPr txBox="1"/>
          <p:nvPr/>
        </p:nvSpPr>
        <p:spPr>
          <a:xfrm>
            <a:off x="666720" y="283320"/>
            <a:ext cx="3507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Monte Carlo Simulation | Hackathon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" name="テキスト ボックス 113"/>
          <p:cNvSpPr txBox="1"/>
          <p:nvPr/>
        </p:nvSpPr>
        <p:spPr>
          <a:xfrm>
            <a:off x="666720" y="634140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666720" y="633168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5F0F54-E361-D8D7-B888-4FE42EB1C96C}"/>
              </a:ext>
            </a:extLst>
          </p:cNvPr>
          <p:cNvSpPr txBox="1"/>
          <p:nvPr/>
        </p:nvSpPr>
        <p:spPr>
          <a:xfrm>
            <a:off x="11774520" y="6363960"/>
            <a:ext cx="1170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.SFNS-Regular_wdth_opsz180000_GRAD_wght"/>
              </a:rPr>
              <a:t>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フリーフォーム 1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" name="フリーフォーム 1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" name="フリーフォーム 117"/>
          <p:cNvSpPr/>
          <p:nvPr/>
        </p:nvSpPr>
        <p:spPr>
          <a:xfrm>
            <a:off x="123986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" name="フリーフォーム 118"/>
          <p:cNvSpPr/>
          <p:nvPr/>
        </p:nvSpPr>
        <p:spPr>
          <a:xfrm>
            <a:off x="609480" y="735134"/>
            <a:ext cx="57600" cy="857880"/>
          </a:xfrm>
          <a:custGeom>
            <a:avLst/>
            <a:gdLst/>
            <a:ahLst/>
            <a:cxnLst/>
            <a:rect l="0" t="0" r="r" b="b"/>
            <a:pathLst>
              <a:path w="160" h="2383">
                <a:moveTo>
                  <a:pt x="0" y="0"/>
                </a:moveTo>
                <a:lnTo>
                  <a:pt x="160" y="0"/>
                </a:lnTo>
                <a:lnTo>
                  <a:pt x="160" y="2383"/>
                </a:lnTo>
                <a:lnTo>
                  <a:pt x="0" y="2383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0" name="フリーフォーム 119"/>
          <p:cNvSpPr/>
          <p:nvPr/>
        </p:nvSpPr>
        <p:spPr>
          <a:xfrm>
            <a:off x="676080" y="2068934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39" y="216"/>
                  <a:pt x="336" y="227"/>
                  <a:pt x="332" y="237"/>
                </a:cubicBezTo>
                <a:cubicBezTo>
                  <a:pt x="328" y="248"/>
                  <a:pt x="322" y="258"/>
                  <a:pt x="316" y="267"/>
                </a:cubicBezTo>
                <a:cubicBezTo>
                  <a:pt x="310" y="277"/>
                  <a:pt x="303" y="285"/>
                  <a:pt x="295" y="293"/>
                </a:cubicBezTo>
                <a:cubicBezTo>
                  <a:pt x="287" y="301"/>
                  <a:pt x="278" y="308"/>
                  <a:pt x="269" y="315"/>
                </a:cubicBezTo>
                <a:cubicBezTo>
                  <a:pt x="259" y="321"/>
                  <a:pt x="249" y="326"/>
                  <a:pt x="239" y="331"/>
                </a:cubicBezTo>
                <a:cubicBezTo>
                  <a:pt x="228" y="335"/>
                  <a:pt x="218" y="338"/>
                  <a:pt x="207" y="340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0"/>
                </a:cubicBezTo>
                <a:cubicBezTo>
                  <a:pt x="128" y="338"/>
                  <a:pt x="118" y="335"/>
                  <a:pt x="107" y="331"/>
                </a:cubicBezTo>
                <a:cubicBezTo>
                  <a:pt x="97" y="326"/>
                  <a:pt x="87" y="321"/>
                  <a:pt x="77" y="315"/>
                </a:cubicBezTo>
                <a:cubicBezTo>
                  <a:pt x="68" y="308"/>
                  <a:pt x="59" y="301"/>
                  <a:pt x="51" y="293"/>
                </a:cubicBezTo>
                <a:cubicBezTo>
                  <a:pt x="43" y="285"/>
                  <a:pt x="36" y="277"/>
                  <a:pt x="30" y="267"/>
                </a:cubicBezTo>
                <a:cubicBezTo>
                  <a:pt x="24" y="258"/>
                  <a:pt x="18" y="248"/>
                  <a:pt x="14" y="237"/>
                </a:cubicBezTo>
                <a:cubicBezTo>
                  <a:pt x="10" y="227"/>
                  <a:pt x="6" y="216"/>
                  <a:pt x="3" y="205"/>
                </a:cubicBezTo>
                <a:cubicBezTo>
                  <a:pt x="1" y="194"/>
                  <a:pt x="0" y="183"/>
                  <a:pt x="0" y="172"/>
                </a:cubicBezTo>
                <a:cubicBezTo>
                  <a:pt x="0" y="160"/>
                  <a:pt x="1" y="149"/>
                  <a:pt x="3" y="138"/>
                </a:cubicBezTo>
                <a:cubicBezTo>
                  <a:pt x="6" y="127"/>
                  <a:pt x="10" y="116"/>
                  <a:pt x="14" y="106"/>
                </a:cubicBezTo>
                <a:cubicBezTo>
                  <a:pt x="18" y="95"/>
                  <a:pt x="24" y="85"/>
                  <a:pt x="30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8" y="35"/>
                  <a:pt x="77" y="29"/>
                </a:cubicBezTo>
                <a:cubicBezTo>
                  <a:pt x="87" y="22"/>
                  <a:pt x="97" y="17"/>
                  <a:pt x="107" y="13"/>
                </a:cubicBezTo>
                <a:cubicBezTo>
                  <a:pt x="118" y="8"/>
                  <a:pt x="128" y="5"/>
                  <a:pt x="139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4" y="0"/>
                  <a:pt x="195" y="1"/>
                  <a:pt x="207" y="3"/>
                </a:cubicBezTo>
                <a:cubicBezTo>
                  <a:pt x="218" y="5"/>
                  <a:pt x="228" y="8"/>
                  <a:pt x="239" y="13"/>
                </a:cubicBezTo>
                <a:cubicBezTo>
                  <a:pt x="249" y="17"/>
                  <a:pt x="259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2" y="85"/>
                  <a:pt x="328" y="95"/>
                  <a:pt x="332" y="106"/>
                </a:cubicBezTo>
                <a:cubicBezTo>
                  <a:pt x="336" y="116"/>
                  <a:pt x="339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819000" y="731534"/>
            <a:ext cx="9415800" cy="86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800" b="1" u="none" strike="noStrike">
                <a:solidFill>
                  <a:srgbClr val="202228"/>
                </a:solidFill>
                <a:effectLst/>
                <a:uFillTx/>
                <a:latin typeface=".SFNS-Regular_wdth_opsz400000_GRAD_wght2BC0000"/>
                <a:ea typeface=".SFNS-Regular_wdth_opsz400000_GRAD_wght2BC0000"/>
              </a:rPr>
              <a:t>Argon Vapor Pressure Curve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22" name="図 121"/>
          <p:cNvPicPr/>
          <p:nvPr/>
        </p:nvPicPr>
        <p:blipFill>
          <a:blip r:embed="rId2"/>
          <a:stretch/>
        </p:blipFill>
        <p:spPr>
          <a:xfrm>
            <a:off x="1278900" y="2487614"/>
            <a:ext cx="3761766" cy="352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テキスト ボックス 151"/>
          <p:cNvSpPr txBox="1"/>
          <p:nvPr/>
        </p:nvSpPr>
        <p:spPr>
          <a:xfrm>
            <a:off x="990720" y="1852214"/>
            <a:ext cx="607824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Results agree well with prior studies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666720" y="293040"/>
            <a:ext cx="3507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Monte Carlo Simulation | Hackathon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666720" y="283320"/>
            <a:ext cx="3507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Monte Carlo Simulation | Hackathon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" name="テキスト ボックス 155"/>
          <p:cNvSpPr txBox="1"/>
          <p:nvPr/>
        </p:nvSpPr>
        <p:spPr>
          <a:xfrm>
            <a:off x="666720" y="634140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666720" y="633168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011B5A-C49E-1E7D-FAD2-922D44A78C62}"/>
              </a:ext>
            </a:extLst>
          </p:cNvPr>
          <p:cNvSpPr txBox="1"/>
          <p:nvPr/>
        </p:nvSpPr>
        <p:spPr>
          <a:xfrm>
            <a:off x="11774520" y="6363960"/>
            <a:ext cx="1170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7286A8-DAF6-EFAB-DB58-587A3E18FFE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266481" y="2503112"/>
            <a:ext cx="4268997" cy="322182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145</Words>
  <Application>Microsoft Macintosh PowerPoint</Application>
  <PresentationFormat>ワイド画面</PresentationFormat>
  <Paragraphs>35</Paragraphs>
  <Slides>3</Slides>
  <Notes>0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4" baseType="lpstr">
      <vt:lpstr>.SFNS-Regular_wdth_opsz120000_GRAD_wght</vt:lpstr>
      <vt:lpstr>.SFNS-Regular_wdth_opsz180000_GRAD_wght</vt:lpstr>
      <vt:lpstr>.SFNS-Regular_wdth_opsz280000_GRAD_wght</vt:lpstr>
      <vt:lpstr>.SFNS-Regular_wdth_opsz280000_GRAD_wght2BC0000</vt:lpstr>
      <vt:lpstr>.SFNS-Regular_wdth_opsz400000_GRAD_wght2BC0000</vt:lpstr>
      <vt:lpstr>HiraKakuProN-W3</vt:lpstr>
      <vt:lpstr>游明朝体</vt:lpstr>
      <vt:lpstr>Arial</vt:lpstr>
      <vt:lpstr>Symbol</vt:lpstr>
      <vt:lpstr>Wingdings</vt:lpstr>
      <vt:lpstr>Office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yamamoto.yuki.57u@st.kyoto-u.ac.jp</cp:lastModifiedBy>
  <cp:revision>4</cp:revision>
  <dcterms:modified xsi:type="dcterms:W3CDTF">2026-03-08T03:16:31Z</dcterms:modified>
  <dc:language>ja-JP</dc:language>
</cp:coreProperties>
</file>